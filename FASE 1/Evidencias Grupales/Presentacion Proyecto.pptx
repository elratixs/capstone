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7" r:id="rId18"/>
    <p:sldId id="292" r:id="rId19"/>
    <p:sldId id="293" r:id="rId20"/>
    <p:sldId id="294" r:id="rId21"/>
    <p:sldId id="295" r:id="rId22"/>
    <p:sldId id="296" r:id="rId23"/>
    <p:sldId id="277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606A-EE5E-4E75-8D05-56C6B761674C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FF242-B618-4888-895B-752016CD18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04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CE91-09CA-7C7B-58F7-CF8C77C03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B9214-5B69-D83F-C32C-76C04521B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E876E0-F8B5-911D-2C60-2735ACD0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77122B-2987-19D3-D060-2C3F89FE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916226-2FF5-21DA-2CB7-CE72501F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747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0C301-3548-6BFE-07D0-7D66C34A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8CEF0D-6D4A-718A-CE50-56985918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88E080-4E5B-7741-F88F-E67A7F56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AA775-AD3E-34F3-7CAA-A799E127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04D8E3-C86D-E2F5-43A1-AEEF2CC2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128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AD700-259D-83EA-8FDC-9E04814F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25ABF3-9D57-EAD6-C5C8-4047A428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B94D5-52B8-6A73-19BD-534FD10D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68B68-5478-D75A-DE0C-375D9F40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A42F0-FBEE-D03D-CAF6-48FC369A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624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89EE5-3619-E743-C3CE-C56E077F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CEF5A-259E-BB7F-CD93-933D530C6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2D9873-5421-6648-6727-765A159A1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8F05F-E46A-05BF-E619-A592D1618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B933C3-B643-4FA0-94AC-C41E75DC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39717-454A-E677-3AC2-ED8FF4E7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18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81D7A-EC0C-620D-A639-58DC088A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9323E-F449-95AC-572B-290BFC8A5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4C94C8-8875-171F-83F8-2A7A70342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E18AD6-8DE4-33AD-4284-5A990A1A2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97EC59-253F-3C32-E7AA-E5A54BE54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52C79F-37D2-3891-C209-B5F9E2C9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E0AD58-A35D-FC51-9D64-B1B174D3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29CC8-B819-5DCD-CFDF-C2BA2578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810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5B8E0-5EA2-A03C-14AF-B1B3D986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4E5C02-D75F-887B-DD5B-7A0937E6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736A76-873B-2ABD-31F9-14F72EC0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33009F-702D-7A22-6DEC-CFA688BE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55C1DD-29A0-E224-D5A4-D8BBDAB2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97FEE-6CED-597E-6119-3413E695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BEA7B3-C523-E6D1-705C-D5F203DB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033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63DB4-415E-177B-6EAE-5DACE32C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B784B-9FD1-CF68-05CE-C3BE106B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34B136-8AF0-54BC-6153-7CB31D699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B2E51F-9966-50CA-B362-F2C2E146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08739E-CF0D-8B09-D810-F3006756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C071A4-0B00-0432-158D-1D735584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23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99C96-8244-301C-4DA5-EBCEDFE7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BD586F-7F12-4355-45FC-79E5ACAF8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7FF1A8-012A-6BE4-115A-967E22BA2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7CFA32-33AF-A6AA-A8A1-62A6897D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2230CE-D9F6-D881-93A6-B539CC54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A8074-6A8C-DA7E-69B9-B302E25B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272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B44EB-F431-8F01-00FA-40B52070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AD2F6-220F-83B5-85D2-9D0EE6518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3E291-3631-EEE0-8651-E03862E7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F11713-0497-4099-B1A6-041030E6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A0856-D63D-4741-2BD7-38FCBCD8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894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7B27E4-97E1-4321-E672-A08D83D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179014-DBFB-77DF-0425-0130F6385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AC3E11-55FB-86ED-BC22-1149EC54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A682BB-BFBF-EDEA-81C1-A4876C2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58A1E-C865-07D9-A3B4-B95E81BF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67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7A33BE-DF61-F85E-BE3A-B0E19694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8506B0-5B10-4A85-2410-A60716C1E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26F1E0-BA6B-E15F-139A-9CC3B168D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D2FAF-F211-4399-A261-5FA465ACB2A2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FEBD4-DD56-FAC1-E0CD-83B0A5629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50B2E-354B-91CD-F5B5-160FC8E32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657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hyperlink" Target="https://github.com/elratixs/Capston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49D019-6BDA-0199-CFF5-6C6E7742A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s-MX" sz="4400" dirty="0"/>
              <a:t>Proyecto WellQ App Exámenes Medicos</a:t>
            </a: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5FF1BF-F01E-DECF-38B2-3D8F58BBB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8" y="4846320"/>
            <a:ext cx="3734014" cy="1085218"/>
          </a:xfrm>
        </p:spPr>
        <p:txBody>
          <a:bodyPr>
            <a:noAutofit/>
          </a:bodyPr>
          <a:lstStyle/>
          <a:p>
            <a:pPr algn="l"/>
            <a:r>
              <a:rPr lang="es-CL" sz="1100" dirty="0"/>
              <a:t>Integrantes: Mauricio Pavez / Renato Toro / Alex Fuentes</a:t>
            </a:r>
          </a:p>
          <a:p>
            <a:pPr algn="l"/>
            <a:r>
              <a:rPr lang="es-CL" sz="1100" dirty="0"/>
              <a:t>Profesor: Luis Alberto Bravo Yanes</a:t>
            </a:r>
          </a:p>
          <a:p>
            <a:pPr algn="l"/>
            <a:r>
              <a:rPr lang="es-MX" sz="1100" dirty="0"/>
              <a:t>Sección: 002V</a:t>
            </a:r>
            <a:endParaRPr lang="es-CL" sz="1100" dirty="0"/>
          </a:p>
          <a:p>
            <a:pPr algn="l"/>
            <a:endParaRPr lang="es-CL" sz="1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FE18EA-13B1-4B82-464D-FA70AD323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13" y="926462"/>
            <a:ext cx="3474720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Analista Programador: Qué hace, en qué trabaja y cuánto gana">
            <a:extLst>
              <a:ext uri="{FF2B5EF4-FFF2-40B4-BE49-F238E27FC236}">
                <a16:creationId xmlns:a16="http://schemas.microsoft.com/office/drawing/2014/main" id="{79FB0077-B864-396F-9E6E-40AE6C2C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46" y="0"/>
            <a:ext cx="6936606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230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¿Qué problema queremos abordar? </a:t>
            </a:r>
            <a:endParaRPr lang="es-CL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011D51F-BDAE-7108-D313-4B830F2752C2}"/>
              </a:ext>
            </a:extLst>
          </p:cNvPr>
          <p:cNvSpPr txBox="1"/>
          <p:nvPr/>
        </p:nvSpPr>
        <p:spPr>
          <a:xfrm>
            <a:off x="970548" y="2150001"/>
            <a:ext cx="102509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WellQ es una plataforma orientada a una clínica de fisioterapia del Reino Unido.</a:t>
            </a:r>
          </a:p>
          <a:p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Actualmente, determinados documentos médicos pueden encontrarse fuera de la plataforma, por ejemplo:</a:t>
            </a:r>
          </a:p>
          <a:p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Resultados de laboratorio.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Informes de imagen.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Informes médicos.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Documentos enviados por correo.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Documentación física. </a:t>
            </a:r>
          </a:p>
          <a:p>
            <a:pPr lvl="0"/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Esto provoca que la información relacionada con un paciente pueda quedar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distribuida en diferentes medios.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7ABD74-CE4A-03EA-5CB2-4867442BB55F}"/>
              </a:ext>
            </a:extLst>
          </p:cNvPr>
          <p:cNvSpPr/>
          <p:nvPr/>
        </p:nvSpPr>
        <p:spPr>
          <a:xfrm>
            <a:off x="1549146" y="5323589"/>
            <a:ext cx="9093705" cy="9785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 Central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Falta de centralización y gestión integrada de los exámenes médicos dentro de WellQ.</a:t>
            </a:r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5BFE-0BB9-6BE3-4483-8D55EF84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90B4A15-1B48-2EE3-85E9-0A7BD9D66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FAB9577-26CA-0F37-2AAF-1090357DC12A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B609EF-21A1-97B1-4E0B-729F906F010E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¿Por qué es importante solucionar esto?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8FDDAA8-7E23-BC34-37E6-30468621C38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385A71D-0D8B-8C64-3068-99E47933459F}"/>
              </a:ext>
            </a:extLst>
          </p:cNvPr>
          <p:cNvSpPr txBox="1"/>
          <p:nvPr/>
        </p:nvSpPr>
        <p:spPr>
          <a:xfrm>
            <a:off x="970548" y="2150001"/>
            <a:ext cx="10250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La gestión de información médica requiere que los antecedentes sean accesibles, organizados y protegidos.</a:t>
            </a: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Con nuestra propuesta buscamos:</a:t>
            </a:r>
          </a:p>
        </p:txBody>
      </p:sp>
      <p:pic>
        <p:nvPicPr>
          <p:cNvPr id="2" name="Imagen 1" descr="Doctor PNG para descargar gratis">
            <a:extLst>
              <a:ext uri="{FF2B5EF4-FFF2-40B4-BE49-F238E27FC236}">
                <a16:creationId xmlns:a16="http://schemas.microsoft.com/office/drawing/2014/main" id="{491022E8-52C2-6603-ACDF-3D3E92A1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958" y="2925580"/>
            <a:ext cx="1006840" cy="100684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BF61EF8-77CA-1037-4754-5430CB4223E3}"/>
              </a:ext>
            </a:extLst>
          </p:cNvPr>
          <p:cNvSpPr/>
          <p:nvPr/>
        </p:nvSpPr>
        <p:spPr>
          <a:xfrm>
            <a:off x="4085617" y="3347645"/>
            <a:ext cx="5286983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Para el profesional</a:t>
            </a: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Facilitar el acceso a los exámenes del paciente.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81E2E52-2E75-2124-E13B-2C033A24BA38}"/>
              </a:ext>
            </a:extLst>
          </p:cNvPr>
          <p:cNvSpPr/>
          <p:nvPr/>
        </p:nvSpPr>
        <p:spPr>
          <a:xfrm>
            <a:off x="4085617" y="4168680"/>
            <a:ext cx="5286983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Para la clínica</a:t>
            </a: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Centralizar y administrar sus documentos.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EBBE7FC-8165-9C4E-8DBD-08869CD4DAA9}"/>
              </a:ext>
            </a:extLst>
          </p:cNvPr>
          <p:cNvSpPr/>
          <p:nvPr/>
        </p:nvSpPr>
        <p:spPr>
          <a:xfrm>
            <a:off x="4085616" y="4989715"/>
            <a:ext cx="5286984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Para el paciente</a:t>
            </a: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Mantener sus antecedentes relacionados dentro de su información clínica.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1342A4-0DBA-6CD2-022D-83031DFF398D}"/>
              </a:ext>
            </a:extLst>
          </p:cNvPr>
          <p:cNvSpPr/>
          <p:nvPr/>
        </p:nvSpPr>
        <p:spPr>
          <a:xfrm>
            <a:off x="4085616" y="5807585"/>
            <a:ext cx="5286984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Desde informática</a:t>
            </a: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Resolver el problema mediante una solución integrada, segura y escalable.</a:t>
            </a:r>
          </a:p>
        </p:txBody>
      </p:sp>
      <p:pic>
        <p:nvPicPr>
          <p:cNvPr id="21" name="Imagen 20" descr="Clínica - Iconos gratis de médico">
            <a:extLst>
              <a:ext uri="{FF2B5EF4-FFF2-40B4-BE49-F238E27FC236}">
                <a16:creationId xmlns:a16="http://schemas.microsoft.com/office/drawing/2014/main" id="{41157C75-9454-0CD0-FC97-EB5E9D474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257" y="3932420"/>
            <a:ext cx="854242" cy="854242"/>
          </a:xfrm>
          <a:prstGeom prst="rect">
            <a:avLst/>
          </a:prstGeom>
        </p:spPr>
      </p:pic>
      <p:pic>
        <p:nvPicPr>
          <p:cNvPr id="22" name="Imagen 21" descr="Diseño PNG Y SVG De Hospital De Mujer Sonriente Para Camisetas">
            <a:extLst>
              <a:ext uri="{FF2B5EF4-FFF2-40B4-BE49-F238E27FC236}">
                <a16:creationId xmlns:a16="http://schemas.microsoft.com/office/drawing/2014/main" id="{8F3DD714-40BD-3821-C5AB-34F6A50F1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256" y="4786662"/>
            <a:ext cx="854243" cy="854243"/>
          </a:xfrm>
          <a:prstGeom prst="rect">
            <a:avLst/>
          </a:prstGeom>
        </p:spPr>
      </p:pic>
      <p:pic>
        <p:nvPicPr>
          <p:cNvPr id="23" name="Imagen 22" descr="Computador - ícones de computador grátis">
            <a:extLst>
              <a:ext uri="{FF2B5EF4-FFF2-40B4-BE49-F238E27FC236}">
                <a16:creationId xmlns:a16="http://schemas.microsoft.com/office/drawing/2014/main" id="{2C620760-9E6D-EF21-5A29-350EC59C34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3188" y="5687982"/>
            <a:ext cx="704378" cy="70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1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C686-A148-F71B-F37D-9466A8DC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6B0F52F-78B1-77F3-58B4-5CA08949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65E782C-3BB6-97DA-8A41-263FCBAF6A7F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F16DF4-2BB2-84F7-9ACF-0372E29D14F7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Nuestra solución </a:t>
            </a:r>
            <a:endParaRPr lang="es-CL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89EF79A-9F1D-1835-D87C-08B414CE1FB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E2489AD-6095-284F-1B1C-952D3127715F}"/>
              </a:ext>
            </a:extLst>
          </p:cNvPr>
          <p:cNvSpPr txBox="1"/>
          <p:nvPr/>
        </p:nvSpPr>
        <p:spPr>
          <a:xfrm>
            <a:off x="970548" y="2150001"/>
            <a:ext cx="102509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Desarrollar un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módulo de gestión de exámenes médicos integrado a WellQ</a:t>
            </a: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El módulo permitirá:</a:t>
            </a:r>
          </a:p>
          <a:p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📤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Cargar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🔎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Consultar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📁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Almacenar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📥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Descargar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🗑️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Eliminar lógicamente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🔐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Controlar acceso</a:t>
            </a:r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📝 </a:t>
            </a:r>
            <a:r>
              <a:rPr lang="es-CL" sz="1600" b="1" dirty="0">
                <a:latin typeface="Arial" panose="020B0604020202020204" pitchFamily="34" charset="0"/>
                <a:cs typeface="Arial" panose="020B0604020202020204" pitchFamily="34" charset="0"/>
              </a:rPr>
              <a:t>Auditar</a:t>
            </a: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2E8322-71BA-2C5A-F3AC-DB73B664E08D}"/>
              </a:ext>
            </a:extLst>
          </p:cNvPr>
          <p:cNvSpPr/>
          <p:nvPr/>
        </p:nvSpPr>
        <p:spPr>
          <a:xfrm>
            <a:off x="2252068" y="5323589"/>
            <a:ext cx="7687862" cy="7944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Objetivo de Fondo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Centralizar los exámenes médicos sin perder seguridad ni trazabilidad.</a:t>
            </a:r>
          </a:p>
        </p:txBody>
      </p:sp>
    </p:spTree>
    <p:extLst>
      <p:ext uri="{BB962C8B-B14F-4D97-AF65-F5344CB8AC3E}">
        <p14:creationId xmlns:p14="http://schemas.microsoft.com/office/powerpoint/2010/main" val="68447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E61D-0145-A632-019D-B87481DD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6C5E2E3-F71E-C414-9554-33E6A5994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945295-9516-5F9E-0CA4-63F46C55578C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5F2B11-75B1-716A-B5C4-7065DB8103BC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Objetivo General </a:t>
            </a:r>
            <a:endParaRPr lang="es-CL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B48530D-9E22-40B9-A1B9-F356640C634A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7288DCA-EBBE-765D-6574-59EB49493424}"/>
              </a:ext>
            </a:extLst>
          </p:cNvPr>
          <p:cNvSpPr txBox="1"/>
          <p:nvPr/>
        </p:nvSpPr>
        <p:spPr>
          <a:xfrm>
            <a:off x="970548" y="2150001"/>
            <a:ext cx="102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Diseñar y desarrollar un módulo seguro de gestión de exámenes médicos para WellQ, integrando aplicación móvil, API REST, base de datos y almacenamiento de objetos, incorporando control de acceso, multitenancy, trazabilidad y pruebas.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38AECF0D-2405-2661-D51E-C264E2DFDC91}"/>
              </a:ext>
            </a:extLst>
          </p:cNvPr>
          <p:cNvSpPr/>
          <p:nvPr/>
        </p:nvSpPr>
        <p:spPr>
          <a:xfrm>
            <a:off x="1469035" y="3921973"/>
            <a:ext cx="2406719" cy="14540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Específicos </a:t>
            </a:r>
            <a:endParaRPr lang="es-CL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4DFC22-3539-FE99-F003-F15F89E6CB86}"/>
              </a:ext>
            </a:extLst>
          </p:cNvPr>
          <p:cNvSpPr/>
          <p:nvPr/>
        </p:nvSpPr>
        <p:spPr>
          <a:xfrm>
            <a:off x="5476408" y="3065660"/>
            <a:ext cx="5246557" cy="316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 los requerimientos del módulo.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Diseñar el modelo de datos.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la API REST.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Integrar PostgreSQL y MinIO/S3.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autenticación y autorización.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las interfaces necesarias.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Implementar aislamiento multitenant.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pruebas funcionales y de integración.</a:t>
            </a:r>
          </a:p>
          <a:p>
            <a:pPr marL="342900" lvl="0" indent="-342900">
              <a:buAutoNum type="arabicPeriod"/>
            </a:pPr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Documentar la solución.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98BB6D4F-4F00-38DE-F605-52EF90B90807}"/>
              </a:ext>
            </a:extLst>
          </p:cNvPr>
          <p:cNvSpPr/>
          <p:nvPr/>
        </p:nvSpPr>
        <p:spPr>
          <a:xfrm>
            <a:off x="4253007" y="4233497"/>
            <a:ext cx="846147" cy="83099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546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8188-3C88-0228-8C3F-65799F78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DBA4D5B-13C4-1C9C-B017-8E098DA58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4AFD6E9-73B8-5435-3B50-4CDFDAAE6AB2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579AB4-1F77-5EC3-79B0-248236A5D6DA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/>
              <a:t>¿Qué competencias aplicamos? </a:t>
            </a:r>
            <a:endParaRPr lang="es-CL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5EA6559-6FC9-4C76-F69F-87F10A68719F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2BB5CCA-177E-5B9C-6186-8AE2BE7882F0}"/>
              </a:ext>
            </a:extLst>
          </p:cNvPr>
          <p:cNvSpPr txBox="1"/>
          <p:nvPr/>
        </p:nvSpPr>
        <p:spPr>
          <a:xfrm>
            <a:off x="970548" y="2150001"/>
            <a:ext cx="1025090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🗄️ Modelos de datos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Diseño e implementación de la estructura de información utilizando PostgreSQL.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💻 Desarrollo de software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Construcción e integración de frontend, backend, API y almacenamiento.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🧪 Pruebas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Diseño y ejecución de pruebas funcionales, integración y seguridad.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📊 Gestión de proyectos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Planificación y seguimiento mediante metodología incremental.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CD3BF2-81BD-ADCC-47B5-11291934629A}"/>
              </a:ext>
            </a:extLst>
          </p:cNvPr>
          <p:cNvSpPr/>
          <p:nvPr/>
        </p:nvSpPr>
        <p:spPr>
          <a:xfrm>
            <a:off x="1524719" y="5657763"/>
            <a:ext cx="9142560" cy="8844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</a:t>
            </a:r>
          </a:p>
          <a:p>
            <a:endParaRPr lang="es-MX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WellQ nos permite aplicar competencias técnicas y de gestión en un proyecto integrado.</a:t>
            </a: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C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937FC37-7E55-A15B-0FA2-C353ADCFCC51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bg1">
                    <a:lumMod val="95000"/>
                  </a:schemeClr>
                </a:solidFill>
              </a:rPr>
              <a:t>Perfil de Egreso</a:t>
            </a:r>
            <a:endParaRPr lang="es-CL" sz="36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6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F9B4-9DD8-0483-4BF3-4CBFD328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E07AA573-FA3D-01C7-2637-CE37DE97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2097E3-4AEA-067E-6B83-1887ED48A5B9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E5A63-2F1A-AEFB-FC61-E80976260450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¿Por qué este proyecto también nos interesa?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F8C04B8-7041-B457-7EC1-C4425591A7D0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DD67019-EFB7-50A5-6022-DDE22091BD72}"/>
              </a:ext>
            </a:extLst>
          </p:cNvPr>
          <p:cNvSpPr txBox="1"/>
          <p:nvPr/>
        </p:nvSpPr>
        <p:spPr>
          <a:xfrm>
            <a:off x="970548" y="2150001"/>
            <a:ext cx="102509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Como estudiantes de Ingeniería en Informática, tenemos interés en desarrollarnos en áreas relacionadas con:</a:t>
            </a:r>
          </a:p>
          <a:p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Desarrollo de software.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Backend y APIs.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Bases de datos.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Aplicaciones móviles.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Seguridad.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Integración de sistemas.</a:t>
            </a:r>
          </a:p>
          <a:p>
            <a:pPr lvl="0"/>
            <a:endParaRPr lang="es-C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CL" sz="1600" dirty="0">
                <a:latin typeface="Arial" panose="020B0604020202020204" pitchFamily="34" charset="0"/>
                <a:cs typeface="Arial" panose="020B0604020202020204" pitchFamily="34" charset="0"/>
              </a:rPr>
              <a:t>WellQ nos permite trabajar con diferentes tecnologías dentro de un mismo proyecto.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CAFA05-3D45-A31B-4AFE-19EAFD92E088}"/>
              </a:ext>
            </a:extLst>
          </p:cNvPr>
          <p:cNvSpPr/>
          <p:nvPr/>
        </p:nvSpPr>
        <p:spPr>
          <a:xfrm>
            <a:off x="1434058" y="4808332"/>
            <a:ext cx="9323882" cy="18376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Además...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No solamente desarrollamos código.</a:t>
            </a: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También aprendemos a: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Planificar → desarrollar → probar → documentar → presentar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5F3836-3D8F-632C-1947-2A2BE8E34836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bg1">
                    <a:lumMod val="95000"/>
                  </a:schemeClr>
                </a:solidFill>
              </a:rPr>
              <a:t>Intereses Profesionales</a:t>
            </a:r>
            <a:endParaRPr lang="es-CL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19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5C1F-86D8-5DFC-B838-0A781644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8DC442C4-AA1D-6446-B7B6-940F55A06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C78C57-E62E-EDD9-2EED-228E642A186B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12D3BD-C970-FFA2-7072-430CC204E385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Información médica = responsabilidad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0E387A4-5BF2-4C95-3D87-06C8BCA41909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D80400F-5240-8FE5-DFA9-A3840A893BBC}"/>
              </a:ext>
            </a:extLst>
          </p:cNvPr>
          <p:cNvSpPr txBox="1"/>
          <p:nvPr/>
        </p:nvSpPr>
        <p:spPr>
          <a:xfrm>
            <a:off x="970548" y="2150001"/>
            <a:ext cx="1025090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🔐 Confidencialidad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La información médica debe mantenerse protegida.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👤 Privacidad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Solo usuarios autorizados deberían acceder a la información.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🛡️ Seguridad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Se deben aplicar mecanismos de autenticación y autorización.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📝 Trazabilidad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Los accesos relevantes deben poder ser registrados.</a:t>
            </a:r>
          </a:p>
          <a:p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⚠️ Responsabilidad profesional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No debemos diseñar una funcionalidad que permita acceder indiscriminadamente a información clínica.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7A795E-1005-56EC-56BA-DF69862714FB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rgbClr val="FFC000">
                <a:alpha val="40000"/>
              </a:srgb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chemeClr val="bg1">
                    <a:lumMod val="95000"/>
                  </a:schemeClr>
                </a:solidFill>
              </a:rPr>
              <a:t>Ética Profesional</a:t>
            </a:r>
            <a:endParaRPr lang="es-CL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60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6109-6A59-D628-048F-EAD0D596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4F18A27-9176-165D-195E-B7A4FFD42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4CC74D0-B42B-0912-A545-5A7878301D7B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FC56A9-4A15-490E-9549-19301A1E9392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Arquitectura propuesta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20C441E-85E8-4458-E6AF-821408A6F5F9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EB9A429-CAF1-5645-5C32-1AA73903D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66" y="1777180"/>
            <a:ext cx="6100660" cy="378610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EDE14CC-5DF7-2C16-C42B-89181D762766}"/>
              </a:ext>
            </a:extLst>
          </p:cNvPr>
          <p:cNvSpPr/>
          <p:nvPr/>
        </p:nvSpPr>
        <p:spPr>
          <a:xfrm>
            <a:off x="3510193" y="5756162"/>
            <a:ext cx="5171605" cy="9069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Seguridad transversal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JWT + autorización + multitenancy + auditoría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0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AC03-F62B-545A-4EBC-F6C6F5ED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61C77D1-A56B-F559-72A8-E81BC8337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7B6FCA3-04B5-4EA9-0AFD-95C1050EAC60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B930A7-3329-A256-5793-6CE7F13811CE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Tecnologías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12250BA-FB3B-02DD-2F36-0A7A91C277E2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CB41C40-D527-7DAC-BE1B-8CB27018D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537039"/>
              </p:ext>
            </p:extLst>
          </p:nvPr>
        </p:nvGraphicFramePr>
        <p:xfrm>
          <a:off x="2031999" y="2046226"/>
          <a:ext cx="8128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564866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62057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Componente</a:t>
                      </a:r>
                      <a:endParaRPr lang="es-C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Tecnología </a:t>
                      </a:r>
                      <a:endParaRPr lang="es-C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50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Aplicación móvil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Flutter / Dart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48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Node.js / TypeScript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3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080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58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Archivos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MinIO / 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73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Autenticación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85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8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Contenedores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Compose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7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Jest / Supertest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367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Swagger / OpenAPI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de versiones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/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7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2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4A5AA-2E8C-3C2D-A232-64DFAD1A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3FF2DD2A-D79F-6AE1-241F-0A7DD518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A4DB16-4E07-8BEC-BACE-E4E774BFC8EE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76C86C-079C-670D-0B2C-0A72AEA69F14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Metodología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F55EFBA-2C92-9C23-6BA9-324594828603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0BFFA65-B526-DC5A-94D6-994B18E6BFD7}"/>
              </a:ext>
            </a:extLst>
          </p:cNvPr>
          <p:cNvSpPr txBox="1"/>
          <p:nvPr/>
        </p:nvSpPr>
        <p:spPr>
          <a:xfrm>
            <a:off x="970548" y="2150001"/>
            <a:ext cx="10250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Metodología Incremental</a:t>
            </a:r>
          </a:p>
          <a:p>
            <a:endParaRPr lang="es-CL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Elegimos la </a:t>
            </a:r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metodología incremental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 porque nos permite construir la solución de manera progresiva, incorporando funcionalidades en diferentes incrementos y validando los resultados antes de continuar</a:t>
            </a:r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98FC44-28A8-1CAD-03A7-3E84CC5D7E5A}"/>
              </a:ext>
            </a:extLst>
          </p:cNvPr>
          <p:cNvSpPr/>
          <p:nvPr/>
        </p:nvSpPr>
        <p:spPr>
          <a:xfrm>
            <a:off x="1636297" y="3261486"/>
            <a:ext cx="4257207" cy="3323987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Requerimientos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Priorización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Planificación del incremento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Integración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Pruebas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Revisión y mejoras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Siguiente incremento</a:t>
            </a:r>
            <a:endParaRPr lang="es-C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94AA33-35E1-0174-94FE-E38541A0D852}"/>
              </a:ext>
            </a:extLst>
          </p:cNvPr>
          <p:cNvSpPr/>
          <p:nvPr/>
        </p:nvSpPr>
        <p:spPr>
          <a:xfrm>
            <a:off x="6589233" y="3261485"/>
            <a:ext cx="4257207" cy="3323987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Herramientas</a:t>
            </a:r>
          </a:p>
          <a:p>
            <a:endParaRPr lang="es-C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Trello</a:t>
            </a: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 → gestión de tareas</a:t>
            </a:r>
          </a:p>
          <a:p>
            <a:pPr algn="ctr"/>
            <a:r>
              <a:rPr lang="es-CL" sz="14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 → control de versiones</a:t>
            </a:r>
          </a:p>
        </p:txBody>
      </p:sp>
    </p:spTree>
    <p:extLst>
      <p:ext uri="{BB962C8B-B14F-4D97-AF65-F5344CB8AC3E}">
        <p14:creationId xmlns:p14="http://schemas.microsoft.com/office/powerpoint/2010/main" val="365385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7771-3803-2D28-6613-72FEAE7E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D48BB4E-4A22-9541-EA5C-CA9EA1367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C73323-B5DF-A2B1-1A4F-F3794EAE8CFC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0864A2F-59F7-2288-B9E6-454A0E56D41B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Organización del equipo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4BC146-8410-668B-ABC9-02DA999955B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A7DB0328-C1D3-BAE6-B321-797589A9D9C1}"/>
              </a:ext>
            </a:extLst>
          </p:cNvPr>
          <p:cNvSpPr/>
          <p:nvPr/>
        </p:nvSpPr>
        <p:spPr>
          <a:xfrm>
            <a:off x="207235" y="2024467"/>
            <a:ext cx="3671145" cy="3323987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Integrante 1 – Renato Toro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Principalmente:</a:t>
            </a:r>
          </a:p>
          <a:p>
            <a:pPr algn="ctr"/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Backend.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PostgreSQL.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MinIO/S3.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Autenticación.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Multitenancy.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FED96F0-1DF6-746A-43FE-79BE328DFFC7}"/>
              </a:ext>
            </a:extLst>
          </p:cNvPr>
          <p:cNvSpPr/>
          <p:nvPr/>
        </p:nvSpPr>
        <p:spPr>
          <a:xfrm>
            <a:off x="4260427" y="2024467"/>
            <a:ext cx="3671145" cy="3323987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Integrante 2 – Mauricio Pavez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Principalmente: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Flutter.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Aplicación móvil.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Interfaces.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Navegabilidad.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Integración con API.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A2D0F4-5A54-6431-52B8-D4C1B7A0BBBC}"/>
              </a:ext>
            </a:extLst>
          </p:cNvPr>
          <p:cNvSpPr/>
          <p:nvPr/>
        </p:nvSpPr>
        <p:spPr>
          <a:xfrm>
            <a:off x="3642512" y="5595739"/>
            <a:ext cx="4906974" cy="118580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Trabajo conjunto</a:t>
            </a:r>
          </a:p>
          <a:p>
            <a:endParaRPr lang="es-CL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Los tres participamos en:</a:t>
            </a:r>
          </a:p>
          <a:p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Análisis · Integración · Pruebas · Correcciones · Documentación</a:t>
            </a:r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15810-2259-1541-9B17-7B1EF5FE228F}"/>
              </a:ext>
            </a:extLst>
          </p:cNvPr>
          <p:cNvSpPr/>
          <p:nvPr/>
        </p:nvSpPr>
        <p:spPr>
          <a:xfrm>
            <a:off x="8313619" y="2024466"/>
            <a:ext cx="3671145" cy="3323987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Integrante 3 – Alex Fuentes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Principalmente: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Apoyo en desarrollo e integración.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Pruebas funcionales y de integración.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Revisión y detección de errores.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Documentación y evidencias.</a:t>
            </a:r>
          </a:p>
        </p:txBody>
      </p:sp>
    </p:spTree>
    <p:extLst>
      <p:ext uri="{BB962C8B-B14F-4D97-AF65-F5344CB8AC3E}">
        <p14:creationId xmlns:p14="http://schemas.microsoft.com/office/powerpoint/2010/main" val="1177768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0116-1F3C-34E4-119B-519DFEEE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B4604B9-9E4E-5493-B233-99876E2FD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67DC9B-8226-E1BB-EEC4-6D65C188F010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8FE003-2A11-EA24-ECFB-9F711F2FABDF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¿Cómo vamos a desarrollar el proyecto?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477BE8C-4C66-6911-3206-B4E635027500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201653-19EA-FE58-008E-94231847090B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bg1">
                    <a:lumMod val="95000"/>
                  </a:schemeClr>
                </a:solidFill>
              </a:rPr>
              <a:t>Plan de Trabajo</a:t>
            </a:r>
            <a:endParaRPr lang="es-CL" sz="3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5049146-E9C2-5A68-EC20-F802A4656EBD}"/>
              </a:ext>
            </a:extLst>
          </p:cNvPr>
          <p:cNvSpPr/>
          <p:nvPr/>
        </p:nvSpPr>
        <p:spPr>
          <a:xfrm>
            <a:off x="1020526" y="2367422"/>
            <a:ext cx="2828650" cy="3732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Fase 1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Análisis y diseño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Semanas </a:t>
            </a:r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1–4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Requerimientos.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Priorización de requerimientos.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Arquitectura.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Modelo de datos.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Prototipo.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7ECBC82-8A90-D150-DC37-6AEA4126A0AD}"/>
              </a:ext>
            </a:extLst>
          </p:cNvPr>
          <p:cNvSpPr/>
          <p:nvPr/>
        </p:nvSpPr>
        <p:spPr>
          <a:xfrm>
            <a:off x="4752802" y="2367422"/>
            <a:ext cx="2828650" cy="3732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Fase 2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Desarrollo e integración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Semanas </a:t>
            </a:r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5–16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Backend.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App.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BD.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Almacenamiento.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Seguridad.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Integración.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Testing.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5DBD1E-9780-F6BD-ADF1-230D86B176E7}"/>
              </a:ext>
            </a:extLst>
          </p:cNvPr>
          <p:cNvSpPr/>
          <p:nvPr/>
        </p:nvSpPr>
        <p:spPr>
          <a:xfrm>
            <a:off x="8342826" y="2367422"/>
            <a:ext cx="2828650" cy="3732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Fase 3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Cierre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Semanas </a:t>
            </a:r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17–18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Pruebas finales.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Correcciones.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Documentación.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Presentación.</a:t>
            </a:r>
          </a:p>
        </p:txBody>
      </p:sp>
    </p:spTree>
    <p:extLst>
      <p:ext uri="{BB962C8B-B14F-4D97-AF65-F5344CB8AC3E}">
        <p14:creationId xmlns:p14="http://schemas.microsoft.com/office/powerpoint/2010/main" val="341886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A847-9A1C-9EA1-4A47-C0CAED7F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C508169-76ED-C6DF-4DFE-AB84FF76C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869B40D-9266-C7CF-52E0-8F53D78C3ED0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639C95-C77A-F07A-CE48-C47714DDA7C8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Carta Gantt (18 semanas)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040D929-782B-3730-14A2-D5C4658B4873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2C778F5A-DA84-E9A8-B0BC-5E1B08288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86" y="2150001"/>
            <a:ext cx="11919626" cy="394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34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4932-8BA6-7BF0-794D-C995A16D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697627-6290-7023-C924-CB547F1C4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3240A57-B8AA-1A62-7F7C-8DB055237DA6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C62679-46EA-4A9A-7451-5F4FADEA5F37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Gestión de riesgo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0BFCE6A-3C6F-6410-DCBB-CD207B3E1B9F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3EB8774-2C32-A06E-1552-C47096B83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63195"/>
              </p:ext>
            </p:extLst>
          </p:nvPr>
        </p:nvGraphicFramePr>
        <p:xfrm>
          <a:off x="838199" y="2046226"/>
          <a:ext cx="10515600" cy="3385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691189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20142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30261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2997825"/>
                    </a:ext>
                  </a:extLst>
                </a:gridCol>
              </a:tblGrid>
              <a:tr h="314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Probabilidad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Impacto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Respuesta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436773"/>
                  </a:ext>
                </a:extLst>
              </a:tr>
              <a:tr h="55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Problemas de integración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Integrar progresivamente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032203"/>
                  </a:ext>
                </a:extLst>
              </a:tr>
              <a:tr h="314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Errores de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automatizadas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915944"/>
                  </a:ext>
                </a:extLst>
              </a:tr>
              <a:tr h="55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Problemas de autenticación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Validaciones y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555587"/>
                  </a:ext>
                </a:extLst>
              </a:tr>
              <a:tr h="314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en multitenancy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Baja/Media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 de aislamiento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004200"/>
                  </a:ext>
                </a:extLst>
              </a:tr>
              <a:tr h="55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Retraso en desarrollo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Priorización de requerimientos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72273"/>
                  </a:ext>
                </a:extLst>
              </a:tr>
              <a:tr h="314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Problemas de ambiente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Compose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949244"/>
                  </a:ext>
                </a:extLst>
              </a:tr>
              <a:tr h="314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Pérdida de 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Git/GitHub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493692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EC1117D5-837A-1488-E0FB-39F4B0628437}"/>
              </a:ext>
            </a:extLst>
          </p:cNvPr>
          <p:cNvSpPr/>
          <p:nvPr/>
        </p:nvSpPr>
        <p:spPr>
          <a:xfrm>
            <a:off x="2343333" y="5700897"/>
            <a:ext cx="7505333" cy="923299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Estrategia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Detectar temprano → registrar → priorizar → corregir → volver a probar</a:t>
            </a:r>
          </a:p>
        </p:txBody>
      </p:sp>
    </p:spTree>
    <p:extLst>
      <p:ext uri="{BB962C8B-B14F-4D97-AF65-F5344CB8AC3E}">
        <p14:creationId xmlns:p14="http://schemas.microsoft.com/office/powerpoint/2010/main" val="3158793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D9CA-8649-20CA-DD3E-04E07CD2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5A3C6F1-FFBA-31C8-562C-70576F4A7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2B5901-E988-BE83-BD5C-95B6C5C8246D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F64ECE-3AC8-DF8B-1296-E34FD55EF6C6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Prototipo de la solución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8612903-DDE8-0C96-CBB3-FD0D30BD2D64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0EAF57-185F-A0DC-4210-1C0E759CC8F2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INTERFACES Y NAVEGABILIDAD</a:t>
            </a:r>
            <a:endParaRPr lang="es-CL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3AA483-B5A8-6142-96D6-A557F028636A}"/>
              </a:ext>
            </a:extLst>
          </p:cNvPr>
          <p:cNvSpPr/>
          <p:nvPr/>
        </p:nvSpPr>
        <p:spPr>
          <a:xfrm>
            <a:off x="3138526" y="6103785"/>
            <a:ext cx="5914945" cy="56063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Prototipo inicial – sujeto a cambios durante el desarrollo.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8CEF77A-3A76-6ABD-6148-9EA11F176427}"/>
              </a:ext>
            </a:extLst>
          </p:cNvPr>
          <p:cNvSpPr/>
          <p:nvPr/>
        </p:nvSpPr>
        <p:spPr>
          <a:xfrm>
            <a:off x="244839" y="1777180"/>
            <a:ext cx="11585516" cy="3949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4DF4ABF-C0AE-0E47-9E58-B9771E0AB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5" y="1933201"/>
            <a:ext cx="1681163" cy="36379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F47AF45-1726-3CA6-2BD5-0566465E3E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266" y="1945881"/>
            <a:ext cx="1681163" cy="36379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FF7DDD7-FA4F-5F77-DA7A-EBDB1E1AD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887" y="1933201"/>
            <a:ext cx="1681163" cy="362524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4A602EC-D6A2-7A9F-9D90-48F13BD45B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403" y="1933201"/>
            <a:ext cx="1681163" cy="362524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B3C999A-63D2-814C-3297-F411052520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919" y="1933201"/>
            <a:ext cx="1681163" cy="362524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297BCFB-C860-6CD7-E2E6-7B1ACFE62B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540" y="1945881"/>
            <a:ext cx="1681163" cy="36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0A8D4-9C88-DE2A-3847-5625994D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1E248D82-8EE0-8282-3CC5-5221AADC7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62F5DE-F18F-56AF-D5C3-C1E9902DF66B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F99B7B-0ACD-B112-4647-4DC09AEA6F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Prototipo de la solución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0C9D520-609C-7D65-9110-E98779278A9B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B81391-8CDB-E00F-7320-2128116DBE24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INTERFACES Y NAVEGABILIDAD</a:t>
            </a:r>
            <a:endParaRPr lang="es-CL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0204DD6-AC97-921F-4889-532F82A2FC6E}"/>
              </a:ext>
            </a:extLst>
          </p:cNvPr>
          <p:cNvSpPr/>
          <p:nvPr/>
        </p:nvSpPr>
        <p:spPr>
          <a:xfrm>
            <a:off x="3138526" y="6103785"/>
            <a:ext cx="5914945" cy="56063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Prototipo inicial – sujeto a cambios durante el desarrollo.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9D6A6E3-A42F-6A66-606B-DAE5220595AD}"/>
              </a:ext>
            </a:extLst>
          </p:cNvPr>
          <p:cNvSpPr/>
          <p:nvPr/>
        </p:nvSpPr>
        <p:spPr>
          <a:xfrm>
            <a:off x="1105996" y="1777180"/>
            <a:ext cx="10436430" cy="3949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D63790-EBE2-E513-D524-526080BA1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90" y="1971236"/>
            <a:ext cx="1681162" cy="35808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4A005C-3C8D-E488-10F0-EFA2D247B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55" y="1971237"/>
            <a:ext cx="1681163" cy="358087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66E5882-40FF-A03C-DAE2-5A0A43E26F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822" y="1971239"/>
            <a:ext cx="1681162" cy="358720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DDB46B3-AA8A-1F62-C4E8-5D74A9976C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963" y="1952221"/>
            <a:ext cx="1681162" cy="359988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C290A3E-79EE-1FAA-5C80-E404663336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694" y="1971241"/>
            <a:ext cx="1681163" cy="35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20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2E17-788E-4E91-9B5C-A1743F10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6E7807B8-8FE4-9432-29F6-22F46659A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52DAE27-0AB7-0ADF-2898-A0B5C7A0A800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4FBF9C-DF74-9A51-8BC0-218547D1821A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¿Cómo vamos a saber que funciona?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3B9B07F-ADEF-0B2A-4E3A-DD7504241CAC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934E210C-67F4-3C54-C2C0-D82276B5FB2C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200" b="1" dirty="0">
                <a:solidFill>
                  <a:schemeClr val="bg1">
                    <a:lumMod val="95000"/>
                  </a:schemeClr>
                </a:solidFill>
              </a:rPr>
              <a:t>Calidad y Pruebas</a:t>
            </a:r>
            <a:endParaRPr lang="es-CL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060881-0088-AE0D-A1F6-72EC7C2E3189}"/>
              </a:ext>
            </a:extLst>
          </p:cNvPr>
          <p:cNvSpPr/>
          <p:nvPr/>
        </p:nvSpPr>
        <p:spPr>
          <a:xfrm>
            <a:off x="1020526" y="2367422"/>
            <a:ext cx="2828650" cy="37325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Pruebas funcionales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Carga.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Validación.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Consulta.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Descarga.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Borrado lógico.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3CCE53-F47C-746B-0B63-593AE6B99DB4}"/>
              </a:ext>
            </a:extLst>
          </p:cNvPr>
          <p:cNvSpPr/>
          <p:nvPr/>
        </p:nvSpPr>
        <p:spPr>
          <a:xfrm>
            <a:off x="4752802" y="2367422"/>
            <a:ext cx="2828650" cy="37325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Pruebas de integración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App ↔ API.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API ↔ PostgreSQL.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API ↔ MinIO/S3.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F8A648D-E6A9-333F-680B-5A180D6F11C0}"/>
              </a:ext>
            </a:extLst>
          </p:cNvPr>
          <p:cNvSpPr/>
          <p:nvPr/>
        </p:nvSpPr>
        <p:spPr>
          <a:xfrm>
            <a:off x="8342826" y="2367422"/>
            <a:ext cx="2828650" cy="373255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Pruebas de seguridad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JWT.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Autorización.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Multitenancy.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Auditoría.</a:t>
            </a:r>
          </a:p>
        </p:txBody>
      </p:sp>
    </p:spTree>
    <p:extLst>
      <p:ext uri="{BB962C8B-B14F-4D97-AF65-F5344CB8AC3E}">
        <p14:creationId xmlns:p14="http://schemas.microsoft.com/office/powerpoint/2010/main" val="3338355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EB057-050E-950D-AED7-5A5E6394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651D2F5-D096-6656-04E2-C0D7AC121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DCE4353-E3E2-388B-DAF2-4A1D3E4D1684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6516ED-4FB6-E858-FE44-88E45E691D7C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Evidencias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A7195A6-A5A4-058F-0F2F-04E9F876C022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D60C2520-C960-F398-78C8-5C74F61600F2}"/>
              </a:ext>
            </a:extLst>
          </p:cNvPr>
          <p:cNvSpPr/>
          <p:nvPr/>
        </p:nvSpPr>
        <p:spPr>
          <a:xfrm>
            <a:off x="1282020" y="5290996"/>
            <a:ext cx="4475748" cy="646331"/>
          </a:xfrm>
          <a:prstGeom prst="rect">
            <a:avLst/>
          </a:prstGeom>
          <a:effectLst>
            <a:glow rad="152400">
              <a:srgbClr val="FF0000">
                <a:alpha val="4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hlinkClick r:id="rId4"/>
              </a:rPr>
              <a:t>https://github.com/elratixs</a:t>
            </a:r>
            <a:r>
              <a:rPr lang="es-CL" b="1" dirty="0">
                <a:hlinkClick r:id="rId4"/>
              </a:rPr>
              <a:t>/</a:t>
            </a:r>
            <a:r>
              <a:rPr lang="es-CL" dirty="0">
                <a:hlinkClick r:id="rId4"/>
              </a:rPr>
              <a:t>Capstone</a:t>
            </a:r>
            <a:r>
              <a:rPr lang="es-CL" dirty="0"/>
              <a:t> </a:t>
            </a:r>
            <a:r>
              <a:rPr lang="es-CL" b="1" dirty="0"/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52A3DC-3171-2590-B4AF-D0190778F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7" y="2271943"/>
            <a:ext cx="6767414" cy="21075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DC3672B-B176-6F66-1236-79F70A936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601" y="2271943"/>
            <a:ext cx="5152212" cy="366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81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0C89-4CBA-5C8A-BB4A-9309C387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C489374-EAF1-61B3-80D2-C8ABA422A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24441AC-552E-84FA-812E-67E5484F0177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3DC13E-D321-370F-AAF6-1CA33DBEB107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¿Podemos realizarlo?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AE7E6BE-391D-5BF8-CF56-46B6960F7E34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9D5B320E-98ED-79EA-B54A-0134F052A32E}"/>
              </a:ext>
            </a:extLst>
          </p:cNvPr>
          <p:cNvSpPr/>
          <p:nvPr/>
        </p:nvSpPr>
        <p:spPr>
          <a:xfrm>
            <a:off x="4395918" y="315817"/>
            <a:ext cx="3542419" cy="646331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solidFill>
                  <a:schemeClr val="bg1">
                    <a:lumMod val="95000"/>
                  </a:schemeClr>
                </a:solidFill>
              </a:rPr>
              <a:t>F</a:t>
            </a:r>
            <a:r>
              <a:rPr lang="es-CL" sz="3600" b="1" dirty="0">
                <a:solidFill>
                  <a:schemeClr val="bg1">
                    <a:lumMod val="95000"/>
                  </a:schemeClr>
                </a:solidFill>
              </a:rPr>
              <a:t>actibilidad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CEBBC7-296D-CA81-02C0-FA893F610870}"/>
              </a:ext>
            </a:extLst>
          </p:cNvPr>
          <p:cNvSpPr txBox="1"/>
          <p:nvPr/>
        </p:nvSpPr>
        <p:spPr>
          <a:xfrm>
            <a:off x="3995469" y="2150001"/>
            <a:ext cx="4201059" cy="433965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1200" b="1" dirty="0"/>
              <a:t>Sí.</a:t>
            </a:r>
          </a:p>
          <a:p>
            <a:endParaRPr lang="es-CL" sz="1200" b="1" dirty="0"/>
          </a:p>
          <a:p>
            <a:r>
              <a:rPr lang="es-CL" sz="1200" b="1" dirty="0"/>
              <a:t>18 semanas</a:t>
            </a:r>
            <a:endParaRPr lang="es-CL" sz="1200" dirty="0"/>
          </a:p>
          <a:p>
            <a:r>
              <a:rPr lang="es-CL" sz="1200" dirty="0"/>
              <a:t>Tiempo suficiente para desarrollar progresivamente.</a:t>
            </a:r>
          </a:p>
          <a:p>
            <a:endParaRPr lang="es-CL" sz="1200" dirty="0"/>
          </a:p>
          <a:p>
            <a:r>
              <a:rPr lang="es-CL" sz="1200" b="1" dirty="0"/>
              <a:t>3 integrantes</a:t>
            </a:r>
            <a:endParaRPr lang="es-CL" sz="1200" dirty="0"/>
          </a:p>
          <a:p>
            <a:r>
              <a:rPr lang="es-CL" sz="1200" dirty="0"/>
              <a:t>Responsabilidades distribuidas.</a:t>
            </a:r>
          </a:p>
          <a:p>
            <a:endParaRPr lang="es-CL" sz="1200" dirty="0"/>
          </a:p>
          <a:p>
            <a:r>
              <a:rPr lang="es-CL" sz="1200" b="1" dirty="0"/>
              <a:t>MVP definido</a:t>
            </a:r>
            <a:endParaRPr lang="es-CL" sz="1200" dirty="0"/>
          </a:p>
          <a:p>
            <a:r>
              <a:rPr lang="es-CL" sz="1200" dirty="0"/>
              <a:t>Alcance controlado.</a:t>
            </a:r>
          </a:p>
          <a:p>
            <a:endParaRPr lang="es-CL" sz="1200" dirty="0"/>
          </a:p>
          <a:p>
            <a:r>
              <a:rPr lang="es-CL" sz="1200" b="1" dirty="0"/>
              <a:t>Tecnologías disponibles</a:t>
            </a:r>
            <a:endParaRPr lang="es-CL" sz="1200" dirty="0"/>
          </a:p>
          <a:p>
            <a:r>
              <a:rPr lang="es-CL" sz="1200" dirty="0"/>
              <a:t>Flutter, Node.js, PostgreSQL, MinIO, Docker, etc.</a:t>
            </a:r>
          </a:p>
          <a:p>
            <a:endParaRPr lang="es-CL" sz="1200" dirty="0"/>
          </a:p>
          <a:p>
            <a:r>
              <a:rPr lang="es-CL" sz="1200" b="1" dirty="0"/>
              <a:t>Metodología Incremental</a:t>
            </a:r>
            <a:endParaRPr lang="es-CL" sz="1200" dirty="0"/>
          </a:p>
          <a:p>
            <a:r>
              <a:rPr lang="es-CL" sz="1200" dirty="0"/>
              <a:t>Permite desarrollar, probar y mejorar progresivamente cada parte de la solución.</a:t>
            </a:r>
          </a:p>
          <a:p>
            <a:endParaRPr lang="es-CL" sz="1200" dirty="0"/>
          </a:p>
          <a:p>
            <a:r>
              <a:rPr lang="es-CL" sz="1200" b="1" dirty="0"/>
              <a:t>Principales dificultades</a:t>
            </a:r>
          </a:p>
          <a:p>
            <a:r>
              <a:rPr lang="es-CL" sz="1200" dirty="0"/>
              <a:t>Integración · Seguridad · Multitenancy · Testing</a:t>
            </a:r>
          </a:p>
          <a:p>
            <a:endParaRPr lang="es-CL" sz="1200" dirty="0"/>
          </a:p>
          <a:p>
            <a:r>
              <a:rPr lang="es-CL" sz="1200" b="1" dirty="0"/>
              <a:t>¿Cómo las enfrentamos?</a:t>
            </a:r>
          </a:p>
          <a:p>
            <a:r>
              <a:rPr lang="es-CL" sz="1200" b="1" dirty="0"/>
              <a:t>Desarrollo incremental + pruebas + revisión + priorización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4146005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1B64-0F80-5C39-D185-37B5B3C8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538069C-660F-6CB5-44F2-4278DBC5A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05ED492-A51D-AFCE-C6AA-1642D5B4F233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7C464C-601A-2817-0F6E-B9DB08358A0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Resultado esperado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9240690-6FB8-052B-5BD1-4111E511D27A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DFBC14A-6DD8-7A03-BD94-25F3F904B85A}"/>
              </a:ext>
            </a:extLst>
          </p:cNvPr>
          <p:cNvSpPr txBox="1"/>
          <p:nvPr/>
        </p:nvSpPr>
        <p:spPr>
          <a:xfrm>
            <a:off x="970548" y="2150001"/>
            <a:ext cx="10250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¿Qué queremos entregar?</a:t>
            </a:r>
          </a:p>
          <a:p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Al finalizar las 18 semanas esperamos contar con un </a:t>
            </a:r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MVP funcional del módulo de exámenes médicos de WellQ</a:t>
            </a: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Que permita:</a:t>
            </a:r>
          </a:p>
          <a:p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Cargar → almacenar → consultar → descargar → gestionar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87760D-41E6-492C-7BC6-CBB625C919DC}"/>
              </a:ext>
            </a:extLst>
          </p:cNvPr>
          <p:cNvSpPr/>
          <p:nvPr/>
        </p:nvSpPr>
        <p:spPr>
          <a:xfrm>
            <a:off x="7090348" y="4744385"/>
            <a:ext cx="3057993" cy="1484028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🔐 Seguridad</a:t>
            </a: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🗄️ Organización</a:t>
            </a: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👥 Aislamiento por clínica</a:t>
            </a: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📝 Trazabilidad</a:t>
            </a:r>
          </a:p>
          <a:p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🧪 Calidad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4A49E47-6997-68FD-83EE-F662ABD17DFF}"/>
              </a:ext>
            </a:extLst>
          </p:cNvPr>
          <p:cNvSpPr/>
          <p:nvPr/>
        </p:nvSpPr>
        <p:spPr>
          <a:xfrm>
            <a:off x="2413417" y="4886793"/>
            <a:ext cx="2278505" cy="1199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Manteniendo</a:t>
            </a:r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6B9513FD-CB16-59BD-C538-9C166C997CA4}"/>
              </a:ext>
            </a:extLst>
          </p:cNvPr>
          <p:cNvSpPr/>
          <p:nvPr/>
        </p:nvSpPr>
        <p:spPr>
          <a:xfrm>
            <a:off x="5433935" y="5081665"/>
            <a:ext cx="914400" cy="809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0651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4150-7280-2C8E-C032-6EFE9A35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4FECC31-7FDF-D83B-653D-8F00EE4C0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6D7A5F-D984-86B2-30B2-2ADFF148EF83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728A0D-20DD-3307-0F60-26E4BE326691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Cierre WellQ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FD6565F-3F26-2AE5-4DF4-37096B430F3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C3DB979E-C7BF-35D1-4C29-FCC57165C3BF}"/>
              </a:ext>
            </a:extLst>
          </p:cNvPr>
          <p:cNvSpPr/>
          <p:nvPr/>
        </p:nvSpPr>
        <p:spPr>
          <a:xfrm>
            <a:off x="130375" y="2713215"/>
            <a:ext cx="1828800" cy="268323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Información médica fragmentada.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B1DFD32-2B62-2B1C-41F5-95576AA77117}"/>
              </a:ext>
            </a:extLst>
          </p:cNvPr>
          <p:cNvSpPr/>
          <p:nvPr/>
        </p:nvSpPr>
        <p:spPr>
          <a:xfrm>
            <a:off x="2655987" y="2713213"/>
            <a:ext cx="1828800" cy="268323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</a:p>
          <a:p>
            <a:pPr algn="ctr"/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Módulo integrado.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70B87B-286E-4868-5F59-BBF57916B99B}"/>
              </a:ext>
            </a:extLst>
          </p:cNvPr>
          <p:cNvSpPr/>
          <p:nvPr/>
        </p:nvSpPr>
        <p:spPr>
          <a:xfrm>
            <a:off x="5181600" y="2713214"/>
            <a:ext cx="1828800" cy="268323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Tecnología</a:t>
            </a:r>
          </a:p>
          <a:p>
            <a:pPr algn="ctr"/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Flutter + Node.js + PostgreSQL + MinIO/S3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242D7E-A396-BC12-8806-083855900C4C}"/>
              </a:ext>
            </a:extLst>
          </p:cNvPr>
          <p:cNvSpPr/>
          <p:nvPr/>
        </p:nvSpPr>
        <p:spPr>
          <a:xfrm>
            <a:off x="7707213" y="2713213"/>
            <a:ext cx="1828800" cy="268323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</a:p>
          <a:p>
            <a:pPr algn="ctr"/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Metodología Incremental · 18 semanas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D0A0398-3B98-E2FD-B62F-371199A860E2}"/>
              </a:ext>
            </a:extLst>
          </p:cNvPr>
          <p:cNvSpPr/>
          <p:nvPr/>
        </p:nvSpPr>
        <p:spPr>
          <a:xfrm>
            <a:off x="10227013" y="2713215"/>
            <a:ext cx="1828800" cy="2683239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</a:p>
          <a:p>
            <a:pPr algn="ctr"/>
            <a:endParaRPr lang="es-C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Una solución organizada, segura y funcional.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29F83A5-F7DC-ACF8-4165-517717A34B82}"/>
              </a:ext>
            </a:extLst>
          </p:cNvPr>
          <p:cNvCxnSpPr>
            <a:stCxn id="2" idx="3"/>
          </p:cNvCxnSpPr>
          <p:nvPr/>
        </p:nvCxnSpPr>
        <p:spPr>
          <a:xfrm flipV="1">
            <a:off x="1959175" y="4054832"/>
            <a:ext cx="57416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C955DBE-E500-964D-925A-13A2CDBF241C}"/>
              </a:ext>
            </a:extLst>
          </p:cNvPr>
          <p:cNvCxnSpPr/>
          <p:nvPr/>
        </p:nvCxnSpPr>
        <p:spPr>
          <a:xfrm flipV="1">
            <a:off x="4484787" y="4054832"/>
            <a:ext cx="57416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6F79F4F-2C4B-045C-5CE1-A14E1DAEEEF7}"/>
              </a:ext>
            </a:extLst>
          </p:cNvPr>
          <p:cNvCxnSpPr/>
          <p:nvPr/>
        </p:nvCxnSpPr>
        <p:spPr>
          <a:xfrm flipV="1">
            <a:off x="7010400" y="4054832"/>
            <a:ext cx="57416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781C6B6-A6D3-29F1-25B5-DCB28276138C}"/>
              </a:ext>
            </a:extLst>
          </p:cNvPr>
          <p:cNvCxnSpPr/>
          <p:nvPr/>
        </p:nvCxnSpPr>
        <p:spPr>
          <a:xfrm flipV="1">
            <a:off x="9536013" y="4054832"/>
            <a:ext cx="574163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332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67" name="Freeform: Shape 2063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242044" y="5463147"/>
            <a:ext cx="9707911" cy="7398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600" noProof="0" dirty="0">
                <a:latin typeface="+mj-lt"/>
                <a:ea typeface="+mj-ea"/>
                <a:cs typeface="+mj-cs"/>
              </a:rPr>
              <a:t>¡Muchas Gracias por su Atención! </a:t>
            </a:r>
          </a:p>
        </p:txBody>
      </p:sp>
      <p:pic>
        <p:nvPicPr>
          <p:cNvPr id="2" name="Picture 4" descr="140 ideas de Grados en 2025 | imagenes de graduados, imágenes de  graduación, ideas de fiesta de graduación">
            <a:extLst>
              <a:ext uri="{FF2B5EF4-FFF2-40B4-BE49-F238E27FC236}">
                <a16:creationId xmlns:a16="http://schemas.microsoft.com/office/drawing/2014/main" id="{2C920B99-9A9B-C26D-9B64-135CA19D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1279" y="1024912"/>
            <a:ext cx="3291389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718" y="2066858"/>
            <a:ext cx="4533764" cy="11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1129</TotalTime>
  <Words>1188</Words>
  <Application>Microsoft Office PowerPoint</Application>
  <PresentationFormat>Panorámica</PresentationFormat>
  <Paragraphs>347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Tema de Office</vt:lpstr>
      <vt:lpstr>Proyecto WellQ App Exámenes Medicos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pavezherrada@gmail.com</dc:creator>
  <cp:lastModifiedBy>pavezherrada@gmail.com</cp:lastModifiedBy>
  <cp:revision>49</cp:revision>
  <dcterms:created xsi:type="dcterms:W3CDTF">2025-03-31T00:42:12Z</dcterms:created>
  <dcterms:modified xsi:type="dcterms:W3CDTF">2026-09-09T01:42:51Z</dcterms:modified>
</cp:coreProperties>
</file>