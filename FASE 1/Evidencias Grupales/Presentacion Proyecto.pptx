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6" r:id="rId2"/>
    <p:sldId id="266" r:id="rId3"/>
    <p:sldId id="27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93" r:id="rId19"/>
    <p:sldId id="294" r:id="rId20"/>
    <p:sldId id="295" r:id="rId21"/>
    <p:sldId id="296" r:id="rId22"/>
    <p:sldId id="277" r:id="rId23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60"/>
  </p:normalViewPr>
  <p:slideViewPr>
    <p:cSldViewPr snapToGrid="0">
      <p:cViewPr varScale="1">
        <p:scale>
          <a:sx n="64" d="100"/>
          <a:sy n="64" d="100"/>
        </p:scale>
        <p:origin x="97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8F606A-EE5E-4E75-8D05-56C6B761674C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L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L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7FF242-B618-4888-895B-752016CD184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290466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2BCE91-09CA-7C7B-58F7-CF8C77C031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82B9214-5B69-D83F-C32C-76C04521B7C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CE876E0-F8B5-911D-2C60-2735ACD0F4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B77122B-2987-19D3-D060-2C3F89FEA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E916226-2FF5-21DA-2CB7-CE72501FA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574709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E0C301-3548-6BFE-07D0-7D66C34AEC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8CEF0D-6D4A-718A-CE50-569859185B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788E080-4E5B-7741-F88F-E67A7F562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43AA775-AD3E-34F3-7CAA-A799E1279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904D8E3-C86D-E2F5-43A1-AEEF2CC29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111287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AAAD700-259D-83EA-8FDC-9E04814F59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425ABF3-9D57-EAD6-C5C8-4047A428D0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111B94D5-52B8-6A73-19BD-534FD10DED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78268B68-5478-D75A-DE0C-375D9F40B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29A42F0-FBEE-D03D-CAF6-48FC369AB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06243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AB89EE5-3619-E743-C3CE-C56E077F5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1CEF5A-259E-BB7F-CD93-933D530C6A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2D9873-5421-6648-6727-765A159A18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918F05F-E46A-05BF-E619-A592D16186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42B933C3-B643-4FA0-94AC-C41E75DC00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C6239717-454A-E677-3AC2-ED8FF4E78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1118172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C81D7A-EC0C-620D-A639-58DC088A8C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9109323E-F449-95AC-572B-290BFC8A52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344C94C8-8875-171F-83F8-2A7A70342E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75E18AD6-8DE4-33AD-4284-5A990A1A2A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7697EC59-253F-3C32-E7AA-E5A54BE540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9852C79F-37D2-3891-C209-B5F9E2C964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01E0AD58-A35D-FC51-9D64-B1B174D38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57F29CC8-B819-5DCD-CFDF-C2BA25780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4881002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175B8E0-5EA2-A03C-14AF-B1B3D986D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A4E5C02-D75F-887B-DD5B-7A0937E6B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D9736A76-873B-2ABD-31F9-14F72EC0DA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DA33009F-702D-7A22-6DEC-CFA688BEB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45322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1C55C1DD-29A0-E224-D5A4-D8BBDAB2F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8097FEE-6CED-597E-6119-3413E6954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BEA7B3-C523-E6D1-705C-D5F203DB7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7203394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E63DB4-415E-177B-6EAE-5DACE32C0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FDB784B-9FD1-CF68-05CE-C3BE106BB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534B136-8AF0-54BC-6153-7CB31D6999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78B2E51F-9966-50CA-B362-F2C2E146B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AD08739E-CF0D-8B09-D810-F3006756B3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EC071A4-0B00-0432-158D-1D735584B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892373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5999C96-8244-301C-4DA5-EBCEDFE7D6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E7BD586F-7F12-4355-45FC-79E5ACAF8D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17FF1A8-012A-6BE4-115A-967E22BA2B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07CFA32-33AF-A6AA-A8A1-62A6897DD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82230CE-D9F6-D881-93A6-B539CC543F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E1A8074-6A8C-DA7E-69B9-B302E25B8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027282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CB44EB-F431-8F01-00FA-40B52070F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3C7AD2F6-220F-83B5-85D2-9D0EE6518FA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F0C3E291-3631-EEE0-8651-E03862E70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B7F11713-0497-4099-B1A6-041030E61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4CA0856-D63D-4741-2BD7-38FCBCD8F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08949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07B27E4-97E1-4321-E672-A08D83D2E5B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79179014-DBFB-77DF-0425-0130F63859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5AC3E11-55FB-86ED-BC22-1149EC541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FA682BB-BFBF-EDEA-81C1-A4876C279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8D58A1E-C865-07D9-A3B4-B95E81BF0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406749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27A33BE-DF61-F85E-BE3A-B0E19694F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8506B0-5B10-4A85-2410-A60716C1E9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226F1E0-BA6B-E15F-139A-9CC3B168D6B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D8D2FAF-F211-4399-A261-5FA465ACB2A2}" type="datetimeFigureOut">
              <a:rPr lang="es-CL" smtClean="0"/>
              <a:t>28-08-2026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54FEBD4-DD56-FAC1-E0CD-83B0A56291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E850B2E-354B-91CD-F5B5-160FC8E326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8C4063-326B-4B92-AA20-68BC36920587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286573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9B7AD9F6-8CE7-4299-8FC6-328F4DCD3F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CA49D019-6BDA-0199-CFF5-6C6E7742A07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0338" y="640080"/>
            <a:ext cx="3734014" cy="3566160"/>
          </a:xfrm>
        </p:spPr>
        <p:txBody>
          <a:bodyPr anchor="b">
            <a:normAutofit/>
          </a:bodyPr>
          <a:lstStyle/>
          <a:p>
            <a:pPr algn="l"/>
            <a:r>
              <a:rPr lang="es-MX" sz="4400" dirty="0"/>
              <a:t>Proyecto WellQ App Exámenes Medicos</a:t>
            </a:r>
            <a:endParaRPr lang="es-CL" sz="4400" dirty="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5FF1BF-F01E-DECF-38B2-3D8F58BBBE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0338" y="4846320"/>
            <a:ext cx="3734014" cy="1085218"/>
          </a:xfrm>
        </p:spPr>
        <p:txBody>
          <a:bodyPr>
            <a:noAutofit/>
          </a:bodyPr>
          <a:lstStyle/>
          <a:p>
            <a:pPr algn="l"/>
            <a:r>
              <a:rPr lang="es-CL" sz="1400" dirty="0"/>
              <a:t>Integrantes: Mauricio Pavez / Renato Toro</a:t>
            </a:r>
          </a:p>
          <a:p>
            <a:pPr algn="l"/>
            <a:r>
              <a:rPr lang="es-CL" sz="1400" dirty="0"/>
              <a:t>Profesor: Luis Alberto Bravo Yanes</a:t>
            </a:r>
          </a:p>
          <a:p>
            <a:pPr algn="l"/>
            <a:r>
              <a:rPr lang="es-MX" sz="1400" dirty="0"/>
              <a:t>Sección: 002V</a:t>
            </a:r>
            <a:endParaRPr lang="es-CL" sz="1400" dirty="0"/>
          </a:p>
          <a:p>
            <a:pPr algn="l"/>
            <a:endParaRPr lang="es-CL" sz="1400" dirty="0"/>
          </a:p>
        </p:txBody>
      </p:sp>
      <p:sp>
        <p:nvSpPr>
          <p:cNvPr id="12" name="sketchy line">
            <a:extLst>
              <a:ext uri="{FF2B5EF4-FFF2-40B4-BE49-F238E27FC236}">
                <a16:creationId xmlns:a16="http://schemas.microsoft.com/office/drawing/2014/main" id="{F49775AF-8896-43EE-92C6-83497D6DC5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90338" y="4409267"/>
            <a:ext cx="3474720" cy="18288"/>
          </a:xfrm>
          <a:custGeom>
            <a:avLst/>
            <a:gdLst>
              <a:gd name="csX0" fmla="*/ 0 w 3474720"/>
              <a:gd name="csY0" fmla="*/ 0 h 18288"/>
              <a:gd name="csX1" fmla="*/ 694944 w 3474720"/>
              <a:gd name="csY1" fmla="*/ 0 h 18288"/>
              <a:gd name="csX2" fmla="*/ 1355141 w 3474720"/>
              <a:gd name="csY2" fmla="*/ 0 h 18288"/>
              <a:gd name="csX3" fmla="*/ 2015338 w 3474720"/>
              <a:gd name="csY3" fmla="*/ 0 h 18288"/>
              <a:gd name="csX4" fmla="*/ 2779776 w 3474720"/>
              <a:gd name="csY4" fmla="*/ 0 h 18288"/>
              <a:gd name="csX5" fmla="*/ 3474720 w 3474720"/>
              <a:gd name="csY5" fmla="*/ 0 h 18288"/>
              <a:gd name="csX6" fmla="*/ 3474720 w 3474720"/>
              <a:gd name="csY6" fmla="*/ 18288 h 18288"/>
              <a:gd name="csX7" fmla="*/ 2779776 w 3474720"/>
              <a:gd name="csY7" fmla="*/ 18288 h 18288"/>
              <a:gd name="csX8" fmla="*/ 2189074 w 3474720"/>
              <a:gd name="csY8" fmla="*/ 18288 h 18288"/>
              <a:gd name="csX9" fmla="*/ 1528877 w 3474720"/>
              <a:gd name="csY9" fmla="*/ 18288 h 18288"/>
              <a:gd name="csX10" fmla="*/ 868680 w 3474720"/>
              <a:gd name="csY10" fmla="*/ 18288 h 18288"/>
              <a:gd name="csX11" fmla="*/ 0 w 3474720"/>
              <a:gd name="csY11" fmla="*/ 18288 h 18288"/>
              <a:gd name="csX12" fmla="*/ 0 w 347472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FE18EA-13B1-4B82-464D-FA70AD3239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8813" y="926462"/>
            <a:ext cx="3474720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Imagen 13" descr="Analista Programador: Qué hace, en qué trabaja y cuánto gana">
            <a:extLst>
              <a:ext uri="{FF2B5EF4-FFF2-40B4-BE49-F238E27FC236}">
                <a16:creationId xmlns:a16="http://schemas.microsoft.com/office/drawing/2014/main" id="{79FB0077-B864-396F-9E6E-40AE6C2C4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2346" y="0"/>
            <a:ext cx="6936606" cy="6858000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3052303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problema queremos abordar?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F011D51F-BDAE-7108-D313-4B830F2752C2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es una plataforma orientada a una clínica de fisioterapia del Reino Unido.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Actualmente, determinados documentos médicos pueden encontrarse fuera de la plataforma, por ejemplo: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Resultados de laboratorio.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de imagen.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Informes médicos.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Documentos enviados por correo.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Documentación física. 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Esto provoca que la información relacionada con un paciente pueda quedar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distribuida en diferentes medios.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857ABD74-CE4A-03EA-5CB2-4867442BB55F}"/>
              </a:ext>
            </a:extLst>
          </p:cNvPr>
          <p:cNvSpPr/>
          <p:nvPr/>
        </p:nvSpPr>
        <p:spPr>
          <a:xfrm>
            <a:off x="1549146" y="5323589"/>
            <a:ext cx="9093705" cy="978568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 Central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Falta de centralización y gestión integrada de los exámenes médicos dentro de WellQ.</a:t>
            </a:r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A5BFE-0BB9-6BE3-4483-8D55EF84D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90B4A15-1B48-2EE3-85E9-0A7BD9D66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FAB9577-26CA-0F37-2AAF-1090357DC12A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5B609EF-21A1-97B1-4E0B-729F906F010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 importante solucionar esto?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8FDDAA8-7E23-BC34-37E6-30468621C38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7385A71D-0D8B-8C64-3068-99E47933459F}"/>
              </a:ext>
            </a:extLst>
          </p:cNvPr>
          <p:cNvSpPr txBox="1"/>
          <p:nvPr/>
        </p:nvSpPr>
        <p:spPr>
          <a:xfrm>
            <a:off x="970548" y="2150001"/>
            <a:ext cx="10250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La gestión de información médica requiere que los antecedentes sean accesibles, organizados y protegidos.</a:t>
            </a: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Con nuestra propuesta buscamos:</a:t>
            </a:r>
          </a:p>
        </p:txBody>
      </p:sp>
      <p:pic>
        <p:nvPicPr>
          <p:cNvPr id="2" name="Imagen 1" descr="Doctor PNG para descargar gratis">
            <a:extLst>
              <a:ext uri="{FF2B5EF4-FFF2-40B4-BE49-F238E27FC236}">
                <a16:creationId xmlns:a16="http://schemas.microsoft.com/office/drawing/2014/main" id="{491022E8-52C2-6603-ACDF-3D3E92A1E8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1958" y="2925580"/>
            <a:ext cx="1006840" cy="1006840"/>
          </a:xfrm>
          <a:prstGeom prst="rect">
            <a:avLst/>
          </a:prstGeom>
        </p:spPr>
      </p:pic>
      <p:sp>
        <p:nvSpPr>
          <p:cNvPr id="3" name="Rectángulo 2">
            <a:extLst>
              <a:ext uri="{FF2B5EF4-FFF2-40B4-BE49-F238E27FC236}">
                <a16:creationId xmlns:a16="http://schemas.microsoft.com/office/drawing/2014/main" id="{0BF61EF8-77CA-1037-4754-5430CB4223E3}"/>
              </a:ext>
            </a:extLst>
          </p:cNvPr>
          <p:cNvSpPr/>
          <p:nvPr/>
        </p:nvSpPr>
        <p:spPr>
          <a:xfrm>
            <a:off x="4085617" y="3347645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profesional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Facilitar el acceso a los exámenes del paciente.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681E2E52-2E75-2124-E13B-2C033A24BA38}"/>
              </a:ext>
            </a:extLst>
          </p:cNvPr>
          <p:cNvSpPr/>
          <p:nvPr/>
        </p:nvSpPr>
        <p:spPr>
          <a:xfrm>
            <a:off x="4085617" y="4168680"/>
            <a:ext cx="5286983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la clínica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Centralizar y administrar sus documentos.</a:t>
            </a:r>
          </a:p>
        </p:txBody>
      </p:sp>
      <p:sp>
        <p:nvSpPr>
          <p:cNvPr id="18" name="Rectángulo 17">
            <a:extLst>
              <a:ext uri="{FF2B5EF4-FFF2-40B4-BE49-F238E27FC236}">
                <a16:creationId xmlns:a16="http://schemas.microsoft.com/office/drawing/2014/main" id="{5EBBE7FC-8165-9C4E-8DBD-08869CD4DAA9}"/>
              </a:ext>
            </a:extLst>
          </p:cNvPr>
          <p:cNvSpPr/>
          <p:nvPr/>
        </p:nvSpPr>
        <p:spPr>
          <a:xfrm>
            <a:off x="4085616" y="498971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Para el paciente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Mantener sus antecedentes relacionados dentro de su información clínica.</a:t>
            </a: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0B1342A4-0DBA-6CD2-022D-83031DFF398D}"/>
              </a:ext>
            </a:extLst>
          </p:cNvPr>
          <p:cNvSpPr/>
          <p:nvPr/>
        </p:nvSpPr>
        <p:spPr>
          <a:xfrm>
            <a:off x="4085616" y="5807585"/>
            <a:ext cx="5286984" cy="584775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sz="1200" b="1" dirty="0">
                <a:latin typeface="Arial" panose="020B0604020202020204" pitchFamily="34" charset="0"/>
                <a:cs typeface="Arial" panose="020B0604020202020204" pitchFamily="34" charset="0"/>
              </a:rPr>
              <a:t>Desde informática</a:t>
            </a:r>
          </a:p>
          <a:p>
            <a:endParaRPr lang="es-MX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Resolver el problema mediante una solución integrada, segura y escalable.</a:t>
            </a:r>
          </a:p>
        </p:txBody>
      </p:sp>
      <p:pic>
        <p:nvPicPr>
          <p:cNvPr id="21" name="Imagen 20" descr="Clínica - Iconos gratis de médico">
            <a:extLst>
              <a:ext uri="{FF2B5EF4-FFF2-40B4-BE49-F238E27FC236}">
                <a16:creationId xmlns:a16="http://schemas.microsoft.com/office/drawing/2014/main" id="{41157C75-9454-0CD0-FC97-EB5E9D4745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08257" y="3932420"/>
            <a:ext cx="854242" cy="854242"/>
          </a:xfrm>
          <a:prstGeom prst="rect">
            <a:avLst/>
          </a:prstGeom>
        </p:spPr>
      </p:pic>
      <p:pic>
        <p:nvPicPr>
          <p:cNvPr id="22" name="Imagen 21" descr="Diseño PNG Y SVG De Hospital De Mujer Sonriente Para Camisetas">
            <a:extLst>
              <a:ext uri="{FF2B5EF4-FFF2-40B4-BE49-F238E27FC236}">
                <a16:creationId xmlns:a16="http://schemas.microsoft.com/office/drawing/2014/main" id="{8F3DD714-40BD-3821-C5AB-34F6A50F1E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256" y="4786662"/>
            <a:ext cx="854243" cy="854243"/>
          </a:xfrm>
          <a:prstGeom prst="rect">
            <a:avLst/>
          </a:prstGeom>
        </p:spPr>
      </p:pic>
      <p:pic>
        <p:nvPicPr>
          <p:cNvPr id="23" name="Imagen 22" descr="Computador - ícones de computador grátis">
            <a:extLst>
              <a:ext uri="{FF2B5EF4-FFF2-40B4-BE49-F238E27FC236}">
                <a16:creationId xmlns:a16="http://schemas.microsoft.com/office/drawing/2014/main" id="{2C620760-9E6D-EF21-5A29-350EC59C34F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83188" y="5687982"/>
            <a:ext cx="704378" cy="704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0141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8C686-A148-F71B-F37D-9466A8DC9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6B0F52F-78B1-77F3-58B4-5CA0894977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65E782C-3BB6-97DA-8A41-263FCBAF6A7F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9EF16DF4-2BB2-84F7-9ACF-0372E29D14F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Nuestra solución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89EF79A-9F1D-1835-D87C-08B414CE1F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AE2489AD-6095-284F-1B1C-952D3127715F}"/>
              </a:ext>
            </a:extLst>
          </p:cNvPr>
          <p:cNvSpPr txBox="1"/>
          <p:nvPr/>
        </p:nvSpPr>
        <p:spPr>
          <a:xfrm>
            <a:off x="970548" y="2150001"/>
            <a:ext cx="10250904" cy="28007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Desarrollar un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módulo de gestión de exámenes médicos integrado a WellQ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El módulo permitirá: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📤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🔎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Consultar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📁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Almacenar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📥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Descargar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🗑️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Eliminar lógicamente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🔐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Controlar acceso</a:t>
            </a:r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📝 </a:t>
            </a:r>
            <a:r>
              <a:rPr lang="es-CL" sz="1600" b="1" dirty="0">
                <a:latin typeface="Arial" panose="020B0604020202020204" pitchFamily="34" charset="0"/>
                <a:cs typeface="Arial" panose="020B0604020202020204" pitchFamily="34" charset="0"/>
              </a:rPr>
              <a:t>Auditar</a:t>
            </a: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02E8322-71BA-2C5A-F3AC-DB73B664E08D}"/>
              </a:ext>
            </a:extLst>
          </p:cNvPr>
          <p:cNvSpPr/>
          <p:nvPr/>
        </p:nvSpPr>
        <p:spPr>
          <a:xfrm>
            <a:off x="2252068" y="5323589"/>
            <a:ext cx="7687862" cy="794479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Objetivo de Fondo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Centralizar los exámenes médicos sin perder seguridad ni trazabilidad.</a:t>
            </a:r>
          </a:p>
        </p:txBody>
      </p:sp>
    </p:spTree>
    <p:extLst>
      <p:ext uri="{BB962C8B-B14F-4D97-AF65-F5344CB8AC3E}">
        <p14:creationId xmlns:p14="http://schemas.microsoft.com/office/powerpoint/2010/main" val="6844788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59E61D-0145-A632-019D-B87481DDB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C5E2E3-F71E-C414-9554-33E6A5994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C945295-9516-5F9E-0CA4-63F46C55578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45F2B11-75B1-716A-B5C4-7065DB8103B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Objetivo General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B48530D-9E22-40B9-A1B9-F356640C634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47288DCA-EBBE-765D-6574-59EB49493424}"/>
              </a:ext>
            </a:extLst>
          </p:cNvPr>
          <p:cNvSpPr txBox="1"/>
          <p:nvPr/>
        </p:nvSpPr>
        <p:spPr>
          <a:xfrm>
            <a:off x="970548" y="2150001"/>
            <a:ext cx="1025090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Diseñar y desarrollar un módulo seguro de gestión de exámenes médicos para WellQ, integrando aplicación móvil, API REST, base de datos y almacenamiento de objetos, incorporando control de acceso, multitenancy, trazabilidad y pruebas.</a:t>
            </a:r>
          </a:p>
        </p:txBody>
      </p:sp>
      <p:sp>
        <p:nvSpPr>
          <p:cNvPr id="2" name="Elipse 1">
            <a:extLst>
              <a:ext uri="{FF2B5EF4-FFF2-40B4-BE49-F238E27FC236}">
                <a16:creationId xmlns:a16="http://schemas.microsoft.com/office/drawing/2014/main" id="{38AECF0D-2405-2661-D51E-C264E2DFDC91}"/>
              </a:ext>
            </a:extLst>
          </p:cNvPr>
          <p:cNvSpPr/>
          <p:nvPr/>
        </p:nvSpPr>
        <p:spPr>
          <a:xfrm>
            <a:off x="1469035" y="3921973"/>
            <a:ext cx="2406719" cy="1454046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Objetivos Específicos </a:t>
            </a:r>
            <a:endParaRPr lang="es-CL" b="1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44DFC22-3539-FE99-F003-F15F89E6CB86}"/>
              </a:ext>
            </a:extLst>
          </p:cNvPr>
          <p:cNvSpPr/>
          <p:nvPr/>
        </p:nvSpPr>
        <p:spPr>
          <a:xfrm>
            <a:off x="5476408" y="3065660"/>
            <a:ext cx="5246557" cy="316667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Analizar los requerimientos del módulo.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Diseñar el modelo de datos.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 API REST.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Integrar PostgreSQL y MinIO/S3.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autenticación y autorización.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Desarrollar las interfaces necesarias.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Implementar aislamiento multitenant.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Realizar pruebas funcionales y de integración.</a:t>
            </a:r>
          </a:p>
          <a:p>
            <a:pPr marL="342900" lvl="0" indent="-342900">
              <a:buAutoNum type="arabicPeriod"/>
            </a:pPr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Documentar la solución.</a:t>
            </a:r>
          </a:p>
        </p:txBody>
      </p:sp>
      <p:sp>
        <p:nvSpPr>
          <p:cNvPr id="4" name="Flecha: a la derecha 3">
            <a:extLst>
              <a:ext uri="{FF2B5EF4-FFF2-40B4-BE49-F238E27FC236}">
                <a16:creationId xmlns:a16="http://schemas.microsoft.com/office/drawing/2014/main" id="{98BB6D4F-4F00-38DE-F605-52EF90B90807}"/>
              </a:ext>
            </a:extLst>
          </p:cNvPr>
          <p:cNvSpPr/>
          <p:nvPr/>
        </p:nvSpPr>
        <p:spPr>
          <a:xfrm>
            <a:off x="4253007" y="4233497"/>
            <a:ext cx="846147" cy="830997"/>
          </a:xfrm>
          <a:prstGeom prst="rightArrow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16546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B8188-3C88-0228-8C3F-65799F7878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DBA4D5B-13C4-1C9C-B017-8E098DA58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4AFD6E9-73B8-5435-3B50-4CDFDAAE6AB2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B579AB4-1F77-5EC3-79B0-248236A5D6D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b="1" dirty="0"/>
              <a:t>¿Qué competencias aplicamos? </a:t>
            </a:r>
            <a:endParaRPr lang="es-CL" b="1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D5EA6559-6FC9-4C76-F69F-87F10A6871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32BB5CCA-177E-5B9C-6186-8AE2BE7882F0}"/>
              </a:ext>
            </a:extLst>
          </p:cNvPr>
          <p:cNvSpPr txBox="1"/>
          <p:nvPr/>
        </p:nvSpPr>
        <p:spPr>
          <a:xfrm>
            <a:off x="970548" y="2150001"/>
            <a:ext cx="10250904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🗄️ Modelos de datos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e implementación de la estructura de información utilizando PostgreSQL.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💻 Desarrollo de software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Construcción e integración de frontend, backend, API y almacenamiento.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🧪 Pruebas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Diseño y ejecución de pruebas funcionales, integración y seguridad.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📊 Gestión de proyectos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Planificación y seguimiento mediante Scrum.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B2CD3BF2-81BD-ADCC-47B5-11291934629A}"/>
              </a:ext>
            </a:extLst>
          </p:cNvPr>
          <p:cNvSpPr/>
          <p:nvPr/>
        </p:nvSpPr>
        <p:spPr>
          <a:xfrm>
            <a:off x="1524719" y="5657763"/>
            <a:ext cx="9142560" cy="88442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Relación</a:t>
            </a:r>
          </a:p>
          <a:p>
            <a:endParaRPr lang="es-MX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WellQ nos permite aplicar competencias técnicas y de gestión en un proyecto integrado.</a:t>
            </a:r>
            <a:r>
              <a:rPr lang="es-MX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endParaRPr lang="es-CL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F937FC37-7E55-A15B-0FA2-C353ADCFCC51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Perfil de Egreso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866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6F9B4-9DD8-0483-4BF3-4CBFD328F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E07AA573-FA3D-01C7-2637-CE37DE978C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2097E3-4AEA-067E-6B83-1887ED48A5B9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FC5E5A63-2F1A-AEFB-FC61-E80976260450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¿Por qué este proyecto también nos interesa?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8C04B8-7041-B457-7EC1-C4425591A7D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2DD67019-EFB7-50A5-6022-DDE22091BD72}"/>
              </a:ext>
            </a:extLst>
          </p:cNvPr>
          <p:cNvSpPr txBox="1"/>
          <p:nvPr/>
        </p:nvSpPr>
        <p:spPr>
          <a:xfrm>
            <a:off x="970548" y="2150001"/>
            <a:ext cx="10250904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Como estudiantes de Ingeniería en Informática, tenemos interés en desarrollarnos en áreas relacionadas con:</a:t>
            </a:r>
          </a:p>
          <a:p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Desarrollo de software.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Backend y APIs.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Bases de datos.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Aplicaciones móviles.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Integración de sistemas.</a:t>
            </a:r>
          </a:p>
          <a:p>
            <a:pPr lvl="0"/>
            <a:endParaRPr lang="es-CL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s-CL" sz="1600" dirty="0">
                <a:latin typeface="Arial" panose="020B0604020202020204" pitchFamily="34" charset="0"/>
                <a:cs typeface="Arial" panose="020B0604020202020204" pitchFamily="34" charset="0"/>
              </a:rPr>
              <a:t>WellQ nos permite trabajar con diferentes tecnologías dentro de un mismo proyecto.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54CAFA05-3D45-A31B-4AFE-19EAFD92E088}"/>
              </a:ext>
            </a:extLst>
          </p:cNvPr>
          <p:cNvSpPr/>
          <p:nvPr/>
        </p:nvSpPr>
        <p:spPr>
          <a:xfrm>
            <a:off x="1434058" y="4808332"/>
            <a:ext cx="9323882" cy="183763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Además...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No solamente desarrollamos código.</a:t>
            </a: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También aprendemos 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Planificar → desarrollar → probar → documentar → presentar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D5F3836-3D8F-632C-1947-2A2BE8E34836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2400" b="1" dirty="0">
                <a:solidFill>
                  <a:schemeClr val="bg1">
                    <a:lumMod val="95000"/>
                  </a:schemeClr>
                </a:solidFill>
              </a:rPr>
              <a:t>Intereses Profesionales</a:t>
            </a:r>
            <a:endParaRPr lang="es-CL" sz="24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7194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D5C1F-86D8-5DFC-B838-0A7816448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8DC442C4-AA1D-6446-B7B6-940F55A064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CC78C57-E62E-EDD9-2EED-228E642A186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212D3BD-C970-FFA2-7072-430CC204E385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Información médica = responsabilidad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20E387A4-5BF2-4C95-3D87-06C8BCA4190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uadroTexto 4">
            <a:extLst>
              <a:ext uri="{FF2B5EF4-FFF2-40B4-BE49-F238E27FC236}">
                <a16:creationId xmlns:a16="http://schemas.microsoft.com/office/drawing/2014/main" id="{9D80400F-5240-8FE5-DFA9-A3840A893BBC}"/>
              </a:ext>
            </a:extLst>
          </p:cNvPr>
          <p:cNvSpPr txBox="1"/>
          <p:nvPr/>
        </p:nvSpPr>
        <p:spPr>
          <a:xfrm>
            <a:off x="970548" y="2150001"/>
            <a:ext cx="10250904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🔐 Confidencialidad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La información médica debe mantenerse protegida.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👤 Privacidad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Solo usuarios autorizados deberían acceder a la información.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🛡️ Seguridad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Se deben aplicar mecanismos de autenticación y autorización.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Los accesos relevantes deben poder ser registrados.</a:t>
            </a:r>
          </a:p>
          <a:p>
            <a:endParaRPr lang="es-CL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⚠️ Responsabilidad profesional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No debemos diseñar una funcionalidad que permita acceder indiscriminadamente a información clínica. 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897A795E-1005-56EC-56BA-DF69862714F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rgbClr val="FFC000">
                <a:alpha val="40000"/>
              </a:srgb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Ética Profesional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3604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A96109-6A59-D628-048F-EAD0D596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4F18A27-9176-165D-195E-B7A4FFD422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94CC74D0-B42B-0912-A545-5A7878301D7B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14FC56A9-4A15-490E-9549-19301A1E9392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Arquitectura propuesta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20C441E-85E8-4458-E6AF-821408A6F5F9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9EB9A429-CAF1-5645-5C32-1AA73903D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5666" y="1777180"/>
            <a:ext cx="6100660" cy="3786104"/>
          </a:xfrm>
          <a:prstGeom prst="rect">
            <a:avLst/>
          </a:prstGeom>
        </p:spPr>
      </p:pic>
      <p:sp>
        <p:nvSpPr>
          <p:cNvPr id="4" name="Rectángulo 3">
            <a:extLst>
              <a:ext uri="{FF2B5EF4-FFF2-40B4-BE49-F238E27FC236}">
                <a16:creationId xmlns:a16="http://schemas.microsoft.com/office/drawing/2014/main" id="{4EDE14CC-5DF7-2C16-C42B-89181D762766}"/>
              </a:ext>
            </a:extLst>
          </p:cNvPr>
          <p:cNvSpPr/>
          <p:nvPr/>
        </p:nvSpPr>
        <p:spPr>
          <a:xfrm>
            <a:off x="3510193" y="5756162"/>
            <a:ext cx="5171605" cy="906905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Seguridad transversal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JWT + autorización + multitenancy + auditoría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95050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C4AC03-F62B-545A-4EBC-F6C6F5EDD8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61C77D1-A56B-F559-72A8-E81BC83378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7B6FCA3-04B5-4EA9-0AFD-95C1050EAC6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6B930A7-3329-A256-5793-6CE7F13811CE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Tecnologías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112250BA-FB3B-02DD-2F36-0A7A91C277E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3CB41C40-D527-7DAC-BE1B-8CB27018DC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6537039"/>
              </p:ext>
            </p:extLst>
          </p:nvPr>
        </p:nvGraphicFramePr>
        <p:xfrm>
          <a:off x="2031999" y="2046226"/>
          <a:ext cx="8128000" cy="4450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756486609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8620571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Componente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MX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Tecnología </a:t>
                      </a:r>
                      <a:endParaRPr lang="es-CL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5008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Aplicación móvil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Flutter / Dart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2148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Node.js / TypeScript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530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70802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Base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PostgreSQL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75845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Archivos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MinIO / S3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27392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Autenticación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JWT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38519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Zod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9081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Contenedores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71776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Jest / Supertest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367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Documentación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Swagger / OpenAPI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58906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Control de versiones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 / GitHub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91711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128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4A5AA-2E8C-3C2D-A232-64DFAD1AA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3FF2DD2A-D79F-6AE1-241F-0A7DD5180B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4BA4DB16-4E07-8BEC-BACE-E4E774BFC8EE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2476C86C-079C-670D-0B2C-0A72AEA69F14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Metodología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FF55EFBA-2C92-9C23-6BA9-32459482860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CuadroTexto 3">
            <a:extLst>
              <a:ext uri="{FF2B5EF4-FFF2-40B4-BE49-F238E27FC236}">
                <a16:creationId xmlns:a16="http://schemas.microsoft.com/office/drawing/2014/main" id="{40BFFA65-B526-DC5A-94D6-994B18E6BFD7}"/>
              </a:ext>
            </a:extLst>
          </p:cNvPr>
          <p:cNvSpPr txBox="1"/>
          <p:nvPr/>
        </p:nvSpPr>
        <p:spPr>
          <a:xfrm>
            <a:off x="970548" y="2150001"/>
            <a:ext cx="102509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Scrum</a:t>
            </a:r>
          </a:p>
          <a:p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Elegimos Scrum porque nos permite trabajar de manera </a:t>
            </a:r>
            <a:r>
              <a:rPr lang="es-CL" sz="1400" b="1" dirty="0">
                <a:latin typeface="Arial" panose="020B0604020202020204" pitchFamily="34" charset="0"/>
                <a:cs typeface="Arial" panose="020B0604020202020204" pitchFamily="34" charset="0"/>
              </a:rPr>
              <a:t>iterativa y organizada</a:t>
            </a:r>
            <a:r>
              <a:rPr lang="es-CL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s-CL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A898FC44-28A8-1CAD-03A7-3E84CC5D7E5A}"/>
              </a:ext>
            </a:extLst>
          </p:cNvPr>
          <p:cNvSpPr/>
          <p:nvPr/>
        </p:nvSpPr>
        <p:spPr>
          <a:xfrm>
            <a:off x="1636297" y="3261486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Product Backlog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 Planning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Sprint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Retrospective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↓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Mejora continua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sz="1000" dirty="0"/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E694AA33-35E1-0174-94FE-E38541A0D852}"/>
              </a:ext>
            </a:extLst>
          </p:cNvPr>
          <p:cNvSpPr/>
          <p:nvPr/>
        </p:nvSpPr>
        <p:spPr>
          <a:xfrm>
            <a:off x="6589233" y="3261485"/>
            <a:ext cx="4257207" cy="3323987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Herramientas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Trello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gestión de tareas</a:t>
            </a:r>
          </a:p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GitHub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 → control de versiones</a:t>
            </a:r>
          </a:p>
        </p:txBody>
      </p:sp>
    </p:spTree>
    <p:extLst>
      <p:ext uri="{BB962C8B-B14F-4D97-AF65-F5344CB8AC3E}">
        <p14:creationId xmlns:p14="http://schemas.microsoft.com/office/powerpoint/2010/main" val="3653850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567771-3803-2D28-6613-72FEAE7E5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2D48BB4E-4A22-9541-EA5C-CA9EA13674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F1C73323-B5DF-A2B1-1A4F-F3794EAE8CFC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0864A2F-59F7-2288-B9E6-454A0E56D41B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Organización del equipo 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0C4BC146-8410-668B-ABC9-02DA999955B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ángulo 4">
            <a:extLst>
              <a:ext uri="{FF2B5EF4-FFF2-40B4-BE49-F238E27FC236}">
                <a16:creationId xmlns:a16="http://schemas.microsoft.com/office/drawing/2014/main" id="{A7DB0328-C1D3-BAE6-B321-797589A9D9C1}"/>
              </a:ext>
            </a:extLst>
          </p:cNvPr>
          <p:cNvSpPr/>
          <p:nvPr/>
        </p:nvSpPr>
        <p:spPr>
          <a:xfrm>
            <a:off x="1148990" y="2046225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1 – Renato Toro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PostgreSQL.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MinIO/S3.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Autenticación.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</p:txBody>
      </p:sp>
      <p:sp>
        <p:nvSpPr>
          <p:cNvPr id="10" name="Rectángulo 9">
            <a:extLst>
              <a:ext uri="{FF2B5EF4-FFF2-40B4-BE49-F238E27FC236}">
                <a16:creationId xmlns:a16="http://schemas.microsoft.com/office/drawing/2014/main" id="{7FED96F0-1DF6-746A-43FE-79BE328DFFC7}"/>
              </a:ext>
            </a:extLst>
          </p:cNvPr>
          <p:cNvSpPr/>
          <p:nvPr/>
        </p:nvSpPr>
        <p:spPr>
          <a:xfrm>
            <a:off x="6785803" y="2046226"/>
            <a:ext cx="4257207" cy="3323987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Integrante 2 – Mauricio Pavez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Principalmente: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Aplicación móvil.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Interfaces.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Navegabilidad.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 con API.</a:t>
            </a: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4A2D0F4-5A54-6431-52B8-D4C1B7A0BBBC}"/>
              </a:ext>
            </a:extLst>
          </p:cNvPr>
          <p:cNvSpPr/>
          <p:nvPr/>
        </p:nvSpPr>
        <p:spPr>
          <a:xfrm>
            <a:off x="3247675" y="5595742"/>
            <a:ext cx="5696647" cy="1185807"/>
          </a:xfrm>
          <a:prstGeom prst="rect">
            <a:avLst/>
          </a:prstGeom>
          <a:noFill/>
          <a:ln w="9525" cap="flat" cmpd="sng" algn="ctr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3"/>
          </a:fontRef>
        </p:style>
        <p:txBody>
          <a:bodyPr rtlCol="0" anchor="ctr"/>
          <a:lstStyle/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Trabajo conjunto</a:t>
            </a:r>
          </a:p>
          <a:p>
            <a:endParaRPr lang="es-CL" sz="12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dirty="0">
                <a:latin typeface="Arial" panose="020B0604020202020204" pitchFamily="34" charset="0"/>
                <a:cs typeface="Arial" panose="020B0604020202020204" pitchFamily="34" charset="0"/>
              </a:rPr>
              <a:t>Ambos participamos en:</a:t>
            </a:r>
          </a:p>
          <a:p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sz="1200" b="1" dirty="0">
                <a:latin typeface="Arial" panose="020B0604020202020204" pitchFamily="34" charset="0"/>
                <a:cs typeface="Arial" panose="020B0604020202020204" pitchFamily="34" charset="0"/>
              </a:rPr>
              <a:t>Análisis · Scrum · Integración · Pruebas · Correcciones · Documentación</a:t>
            </a:r>
            <a:endParaRPr lang="es-CL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endParaRPr lang="es-CL" dirty="0"/>
          </a:p>
        </p:txBody>
      </p:sp>
    </p:spTree>
    <p:extLst>
      <p:ext uri="{BB962C8B-B14F-4D97-AF65-F5344CB8AC3E}">
        <p14:creationId xmlns:p14="http://schemas.microsoft.com/office/powerpoint/2010/main" val="11777689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A0116-1F3C-34E4-119B-519DFEEEFB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7B4604B9-9E4E-5493-B233-99876E2FD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2967DC9B-8226-E1BB-EEC4-6D65C188F01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18FE003-2A11-EA24-ECFB-9F711F2FABDF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desarrollar el proyecto?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477BE8C-4C66-6911-3206-B4E635027500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46201653-19EA-FE58-008E-94231847090B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Plan de Trabajo</a:t>
            </a:r>
            <a:endParaRPr lang="es-CL" sz="36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5049146-E9C2-5A68-EC20-F802A4656EBD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1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Análisis y diseño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1–4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Requerimientos.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Backlog.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Arquitectura.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Modelo de datos.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47ECBC82-8A90-D150-DC37-6AEA4126A0AD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2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Desarrollo e integración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5–16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Backend.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Almacenamiento.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Seguridad.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Integración.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Testing.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945DBD1E-9780-F6BD-ADF1-230D86B176E7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Fase 3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Cierre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Semanas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17–18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Pruebas finales.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Correcciones.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Documentación.</a:t>
            </a:r>
          </a:p>
          <a:p>
            <a:pPr marL="285750" lvl="0" indent="-285750">
              <a:buFont typeface="Wingdings" panose="05000000000000000000" pitchFamily="2" charset="2"/>
              <a:buChar char="§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Presentación.</a:t>
            </a:r>
          </a:p>
        </p:txBody>
      </p:sp>
    </p:spTree>
    <p:extLst>
      <p:ext uri="{BB962C8B-B14F-4D97-AF65-F5344CB8AC3E}">
        <p14:creationId xmlns:p14="http://schemas.microsoft.com/office/powerpoint/2010/main" val="34188679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55A847-9A1C-9EA1-4A47-C0CAED7F99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C508169-76ED-C6DF-4DFE-AB84FF76CD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C869B40D-9266-C7CF-52E0-8F53D78C3ED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C4639C95-C77A-F07A-CE48-C47714DDA7C8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Carta Gantt (18 semanas)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6040D929-782B-3730-14A2-D5C4658B4873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64343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04932-8BA6-7BF0-794D-C995A16DAF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B0697627-6290-7023-C924-CB547F1C4F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13240A57-B8AA-1A62-7F7C-8DB055237DA6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EFC62679-46EA-4A9A-7451-5F4FADEA5F3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Gestión de riesgo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0BFCE6A-3C6F-6410-DCBB-CD207B3E1B9F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73EB8774-2C32-A06E-1552-C47096B833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5292635"/>
              </p:ext>
            </p:extLst>
          </p:nvPr>
        </p:nvGraphicFramePr>
        <p:xfrm>
          <a:off x="838199" y="2046226"/>
          <a:ext cx="10515600" cy="3474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196911894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1201427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5302616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2829978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Riesgo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Probabilidad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Impacto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Respuesta</a:t>
                      </a:r>
                    </a:p>
                  </a:txBody>
                  <a:tcPr anchor="ctr"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4367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integración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Integrar progresivamente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80322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Errores de API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automatizadas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57915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autenticación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Validaciones y testing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105555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Error en multitenancy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Baja/Media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Pruebas de aislamiento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4700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Retraso en desarrollo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Priorización Scrum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30207227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Problemas de ambiente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Medio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Docker Compose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6949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Pérdida de 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Baja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Alto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CL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Git/GitHub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1493692"/>
                  </a:ext>
                </a:extLst>
              </a:tr>
            </a:tbl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EC1117D5-837A-1488-E0FB-39F4B0628437}"/>
              </a:ext>
            </a:extLst>
          </p:cNvPr>
          <p:cNvSpPr/>
          <p:nvPr/>
        </p:nvSpPr>
        <p:spPr>
          <a:xfrm>
            <a:off x="2343332" y="5789992"/>
            <a:ext cx="7505333" cy="92329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Estrategia</a:t>
            </a:r>
          </a:p>
          <a:p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Detectar temprano → registrar → priorizar → corregir → volver a probar</a:t>
            </a:r>
          </a:p>
        </p:txBody>
      </p:sp>
    </p:spTree>
    <p:extLst>
      <p:ext uri="{BB962C8B-B14F-4D97-AF65-F5344CB8AC3E}">
        <p14:creationId xmlns:p14="http://schemas.microsoft.com/office/powerpoint/2010/main" val="31587937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0AD9CA-8649-20CA-DD3E-04E07CD29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A5A3C6F1-FFBA-31C8-562C-70576F4A70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7A2B5901-E988-BE83-BD5C-95B6C5C8246D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D3F64ECE-3AC8-DF8B-1296-E34FD55EF6C6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Prototipo de la solución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8612903-DDE8-0C96-CBB3-FD0D30BD2D6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270EAF57-185F-A0DC-4210-1C0E759CC8F2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CL" dirty="0">
                <a:solidFill>
                  <a:schemeClr val="bg1">
                    <a:lumMod val="95000"/>
                  </a:schemeClr>
                </a:solidFill>
              </a:rPr>
              <a:t>INTERFACES Y NAVEGABILIDAD</a:t>
            </a:r>
            <a:endParaRPr lang="es-CL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23AA483-B5A8-6142-96D6-A557F028636A}"/>
              </a:ext>
            </a:extLst>
          </p:cNvPr>
          <p:cNvSpPr/>
          <p:nvPr/>
        </p:nvSpPr>
        <p:spPr>
          <a:xfrm>
            <a:off x="3082976" y="5154684"/>
            <a:ext cx="6026046" cy="945289"/>
          </a:xfrm>
          <a:prstGeom prst="rect">
            <a:avLst/>
          </a:prstGeom>
          <a:ln>
            <a:solidFill>
              <a:schemeClr val="tx1"/>
            </a:solidFill>
          </a:ln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Prototipo inicial – sujeto a cambios durante el desarrollo.</a:t>
            </a:r>
          </a:p>
        </p:txBody>
      </p:sp>
    </p:spTree>
    <p:extLst>
      <p:ext uri="{BB962C8B-B14F-4D97-AF65-F5344CB8AC3E}">
        <p14:creationId xmlns:p14="http://schemas.microsoft.com/office/powerpoint/2010/main" val="1568581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D2E17-788E-4E91-9B5C-A1743F105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6E7807B8-8FE4-9432-29F6-22F46659AB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E52DAE27-0AB7-0ADF-2898-A0B5C7A0A800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74FBF9C-DF74-9A51-8BC0-218547D1821A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¿Cómo vamos a saber que funciona?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3B9B07F-ADEF-0B2A-4E3A-DD7504241CAC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34E210C-67F4-3C54-C2C0-D82276B5FB2C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200" b="1" dirty="0">
                <a:solidFill>
                  <a:schemeClr val="bg1">
                    <a:lumMod val="95000"/>
                  </a:schemeClr>
                </a:solidFill>
              </a:rPr>
              <a:t>Calidad y Pruebas</a:t>
            </a:r>
            <a:endParaRPr lang="es-CL" sz="3200" b="1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E060881-0088-AE0D-A1F6-72EC7C2E3189}"/>
              </a:ext>
            </a:extLst>
          </p:cNvPr>
          <p:cNvSpPr/>
          <p:nvPr/>
        </p:nvSpPr>
        <p:spPr>
          <a:xfrm>
            <a:off x="1020526" y="2367422"/>
            <a:ext cx="2828650" cy="3732551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funcionales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Validación.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Consulta.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Descarga.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Borrado lógico.</a:t>
            </a: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243CCE53-F47C-746B-0B63-593AE6B99DB4}"/>
              </a:ext>
            </a:extLst>
          </p:cNvPr>
          <p:cNvSpPr/>
          <p:nvPr/>
        </p:nvSpPr>
        <p:spPr>
          <a:xfrm>
            <a:off x="4752802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integración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App ↔ API.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PostgreSQL.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API ↔ MinIO/S3.</a:t>
            </a:r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F8A648D-E6A9-333F-680B-5A180D6F11C0}"/>
              </a:ext>
            </a:extLst>
          </p:cNvPr>
          <p:cNvSpPr/>
          <p:nvPr/>
        </p:nvSpPr>
        <p:spPr>
          <a:xfrm>
            <a:off x="8342826" y="2367422"/>
            <a:ext cx="2828650" cy="3732552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Pruebas de seguridad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JWT.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Autorización.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Multitenancy.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Auditoría.</a:t>
            </a:r>
          </a:p>
        </p:txBody>
      </p:sp>
    </p:spTree>
    <p:extLst>
      <p:ext uri="{BB962C8B-B14F-4D97-AF65-F5344CB8AC3E}">
        <p14:creationId xmlns:p14="http://schemas.microsoft.com/office/powerpoint/2010/main" val="33383551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EB057-050E-950D-AED7-5A5E639471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651D2F5-D096-6656-04E2-C0D7AC1218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0DCE4353-E3E2-388B-DAF2-4A1D3E4D1684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8F6516ED-4FB6-E858-FE44-88E45E691D7C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Evidencias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7195A6-A5A4-058F-0F2F-04E9F876C022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8581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F10C89-4CBA-5C8A-BB4A-9309C3877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4C489374-EAF1-61B3-80D2-C8ABA422AE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B24441AC-552E-84FA-812E-67E5484F0177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B23DC13E-D321-370F-AAF6-1CA33DBEB107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¿Podemos realizarlo?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AAE7E6BE-391D-5BF8-CF56-46B6960F7E34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ángulo 9">
            <a:extLst>
              <a:ext uri="{FF2B5EF4-FFF2-40B4-BE49-F238E27FC236}">
                <a16:creationId xmlns:a16="http://schemas.microsoft.com/office/drawing/2014/main" id="{9D5B320E-98ED-79EA-B54A-0134F052A32E}"/>
              </a:ext>
            </a:extLst>
          </p:cNvPr>
          <p:cNvSpPr/>
          <p:nvPr/>
        </p:nvSpPr>
        <p:spPr>
          <a:xfrm>
            <a:off x="4395918" y="315817"/>
            <a:ext cx="3542419" cy="646331"/>
          </a:xfrm>
          <a:prstGeom prst="rect">
            <a:avLst/>
          </a:prstGeom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s-MX" sz="3600" b="1" dirty="0">
                <a:solidFill>
                  <a:schemeClr val="bg1">
                    <a:lumMod val="95000"/>
                  </a:schemeClr>
                </a:solidFill>
              </a:rPr>
              <a:t>F</a:t>
            </a:r>
            <a:r>
              <a:rPr lang="es-CL" sz="3600" b="1" dirty="0">
                <a:solidFill>
                  <a:schemeClr val="bg1">
                    <a:lumMod val="95000"/>
                  </a:schemeClr>
                </a:solidFill>
              </a:rPr>
              <a:t>actibilidad</a:t>
            </a: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F9CEBBC7-296D-CA81-02C0-FA893F610870}"/>
              </a:ext>
            </a:extLst>
          </p:cNvPr>
          <p:cNvSpPr txBox="1"/>
          <p:nvPr/>
        </p:nvSpPr>
        <p:spPr>
          <a:xfrm>
            <a:off x="3995469" y="2150001"/>
            <a:ext cx="4201059" cy="4154984"/>
          </a:xfrm>
          <a:prstGeom prst="rect">
            <a:avLst/>
          </a:prstGeom>
          <a:effectLst>
            <a:glow rad="228600">
              <a:schemeClr val="accent2">
                <a:satMod val="175000"/>
                <a:alpha val="40000"/>
              </a:schemeClr>
            </a:glow>
          </a:effectLst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s-CL" sz="1200" b="1" dirty="0"/>
              <a:t>Sí.</a:t>
            </a:r>
          </a:p>
          <a:p>
            <a:endParaRPr lang="es-CL" sz="1200" b="1" dirty="0"/>
          </a:p>
          <a:p>
            <a:r>
              <a:rPr lang="es-CL" sz="1200" b="1" dirty="0"/>
              <a:t>18 semanas</a:t>
            </a:r>
            <a:endParaRPr lang="es-CL" sz="1200" dirty="0"/>
          </a:p>
          <a:p>
            <a:r>
              <a:rPr lang="es-CL" sz="1200" dirty="0"/>
              <a:t>Tiempo suficiente para desarrollar progresivamente.</a:t>
            </a:r>
          </a:p>
          <a:p>
            <a:endParaRPr lang="es-CL" sz="1200" dirty="0"/>
          </a:p>
          <a:p>
            <a:r>
              <a:rPr lang="es-CL" sz="1200" b="1" dirty="0"/>
              <a:t>2 integrantes</a:t>
            </a:r>
            <a:endParaRPr lang="es-CL" sz="1200" dirty="0"/>
          </a:p>
          <a:p>
            <a:r>
              <a:rPr lang="es-CL" sz="1200" dirty="0"/>
              <a:t>Responsabilidades distribuidas.</a:t>
            </a:r>
          </a:p>
          <a:p>
            <a:endParaRPr lang="es-CL" sz="1200" dirty="0"/>
          </a:p>
          <a:p>
            <a:r>
              <a:rPr lang="es-CL" sz="1200" b="1" dirty="0"/>
              <a:t>MVP definido</a:t>
            </a:r>
            <a:endParaRPr lang="es-CL" sz="1200" dirty="0"/>
          </a:p>
          <a:p>
            <a:r>
              <a:rPr lang="es-CL" sz="1200" dirty="0"/>
              <a:t>Alcance controlado.</a:t>
            </a:r>
          </a:p>
          <a:p>
            <a:endParaRPr lang="es-CL" sz="1200" dirty="0"/>
          </a:p>
          <a:p>
            <a:r>
              <a:rPr lang="es-CL" sz="1200" b="1" dirty="0"/>
              <a:t>Tecnologías disponibles</a:t>
            </a:r>
            <a:endParaRPr lang="es-CL" sz="1200" dirty="0"/>
          </a:p>
          <a:p>
            <a:r>
              <a:rPr lang="es-CL" sz="1200" dirty="0"/>
              <a:t>Flutter, Node.js, PostgreSQL, MinIO, Docker, etc.</a:t>
            </a:r>
          </a:p>
          <a:p>
            <a:endParaRPr lang="es-CL" sz="1200" dirty="0"/>
          </a:p>
          <a:p>
            <a:r>
              <a:rPr lang="es-CL" sz="1200" b="1" dirty="0"/>
              <a:t>Scrum</a:t>
            </a:r>
            <a:endParaRPr lang="es-CL" sz="1200" dirty="0"/>
          </a:p>
          <a:p>
            <a:r>
              <a:rPr lang="es-CL" sz="1200" dirty="0"/>
              <a:t>Seguimiento y priorización continua.</a:t>
            </a:r>
          </a:p>
          <a:p>
            <a:endParaRPr lang="es-CL" sz="1200" dirty="0"/>
          </a:p>
          <a:p>
            <a:r>
              <a:rPr lang="es-CL" sz="1200" b="1" dirty="0"/>
              <a:t>Principales dificultades</a:t>
            </a:r>
          </a:p>
          <a:p>
            <a:r>
              <a:rPr lang="es-CL" sz="1200" dirty="0"/>
              <a:t>Integración · Seguridad · Multitenancy · Testing</a:t>
            </a:r>
          </a:p>
          <a:p>
            <a:endParaRPr lang="es-CL" sz="1200" dirty="0"/>
          </a:p>
          <a:p>
            <a:r>
              <a:rPr lang="es-CL" sz="1200" b="1" dirty="0"/>
              <a:t>¿Cómo las enfrentamos?</a:t>
            </a:r>
          </a:p>
          <a:p>
            <a:r>
              <a:rPr lang="es-CL" sz="1200" b="1" dirty="0"/>
              <a:t>Desarrollo incremental + pruebas + revisión + priorización</a:t>
            </a:r>
            <a:endParaRPr lang="es-CL" sz="1200" dirty="0"/>
          </a:p>
        </p:txBody>
      </p:sp>
    </p:spTree>
    <p:extLst>
      <p:ext uri="{BB962C8B-B14F-4D97-AF65-F5344CB8AC3E}">
        <p14:creationId xmlns:p14="http://schemas.microsoft.com/office/powerpoint/2010/main" val="41460051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E1B64-0F80-5C39-D185-37B5B3C8D7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F538069C-660F-6CB5-44F2-4278DBC5A6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05ED492-A51D-AFCE-C6AA-1642D5B4F23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F7C464C-601A-2817-0F6E-B9DB08358A0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Resultado esperado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79240690-6FB8-052B-5BD1-4111E511D27A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ADFBC14A-6DD8-7A03-BD94-25F3F904B85A}"/>
              </a:ext>
            </a:extLst>
          </p:cNvPr>
          <p:cNvSpPr txBox="1"/>
          <p:nvPr/>
        </p:nvSpPr>
        <p:spPr>
          <a:xfrm>
            <a:off x="970548" y="2150001"/>
            <a:ext cx="102509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¿Qué queremos entregar?</a:t>
            </a:r>
          </a:p>
          <a:p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Al finalizar las 18 semanas esperamos contar con un </a:t>
            </a:r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MVP funcional del módulo de exámenes médicos de WellQ</a:t>
            </a:r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Que permita:</a:t>
            </a:r>
          </a:p>
          <a:p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Cargar → almacenar → consultar → descargar → gestionar</a:t>
            </a:r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87760D-41E6-492C-7BC6-CBB625C919DC}"/>
              </a:ext>
            </a:extLst>
          </p:cNvPr>
          <p:cNvSpPr/>
          <p:nvPr/>
        </p:nvSpPr>
        <p:spPr>
          <a:xfrm>
            <a:off x="7090348" y="4744385"/>
            <a:ext cx="3057993" cy="1484028"/>
          </a:xfrm>
          <a:prstGeom prst="rect">
            <a:avLst/>
          </a:prstGeom>
          <a:effectLst>
            <a:glow rad="228600">
              <a:schemeClr val="accent1">
                <a:satMod val="175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🔐 Seguridad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🗄️ Organización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👥 Aislamiento por clínica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📝 Trazabilidad</a:t>
            </a:r>
          </a:p>
          <a:p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🧪 Calidad</a:t>
            </a:r>
          </a:p>
        </p:txBody>
      </p:sp>
      <p:sp>
        <p:nvSpPr>
          <p:cNvPr id="5" name="Elipse 4">
            <a:extLst>
              <a:ext uri="{FF2B5EF4-FFF2-40B4-BE49-F238E27FC236}">
                <a16:creationId xmlns:a16="http://schemas.microsoft.com/office/drawing/2014/main" id="{C4A49E47-6997-68FD-83EE-F662ABD17DFF}"/>
              </a:ext>
            </a:extLst>
          </p:cNvPr>
          <p:cNvSpPr/>
          <p:nvPr/>
        </p:nvSpPr>
        <p:spPr>
          <a:xfrm>
            <a:off x="2413417" y="4886793"/>
            <a:ext cx="2278505" cy="11992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Manteniendo</a:t>
            </a:r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6B9513FD-CB16-59BD-C538-9C166C997CA4}"/>
              </a:ext>
            </a:extLst>
          </p:cNvPr>
          <p:cNvSpPr/>
          <p:nvPr/>
        </p:nvSpPr>
        <p:spPr>
          <a:xfrm>
            <a:off x="5433935" y="5081665"/>
            <a:ext cx="914400" cy="80946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50651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A4150-7280-2C8E-C032-6EFE9A357B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4FECC31-7FDF-D83B-653D-8F00EE4C03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4407" y="76451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836D7A5F-D984-86B2-30B2-2ADFF148EF83}"/>
              </a:ext>
            </a:extLst>
          </p:cNvPr>
          <p:cNvSpPr txBox="1"/>
          <p:nvPr/>
        </p:nvSpPr>
        <p:spPr>
          <a:xfrm>
            <a:off x="136187" y="207550"/>
            <a:ext cx="3283662" cy="523154"/>
          </a:xfrm>
          <a:prstGeom prst="rect">
            <a:avLst/>
          </a:prstGeom>
          <a:blipFill>
            <a:blip r:embed="rId3"/>
            <a:stretch>
              <a:fillRect/>
            </a:stretch>
          </a:blipFill>
        </p:spPr>
        <p:txBody>
          <a:bodyPr wrap="square" rtlCol="0">
            <a:spAutoFit/>
          </a:bodyPr>
          <a:lstStyle/>
          <a:p>
            <a:endParaRPr lang="es-MX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74728A0D-20DD-3307-0F60-26E4BE326691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CL" sz="3600" b="1" dirty="0"/>
              <a:t>Cierre WellQ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5FD6565F-3F26-2AE5-4DF4-37096B430F3D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ángulo 1">
            <a:extLst>
              <a:ext uri="{FF2B5EF4-FFF2-40B4-BE49-F238E27FC236}">
                <a16:creationId xmlns:a16="http://schemas.microsoft.com/office/drawing/2014/main" id="{C3DB979E-C7BF-35D1-4C29-FCC57165C3BF}"/>
              </a:ext>
            </a:extLst>
          </p:cNvPr>
          <p:cNvSpPr/>
          <p:nvPr/>
        </p:nvSpPr>
        <p:spPr>
          <a:xfrm>
            <a:off x="130375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MX" b="1" dirty="0">
                <a:latin typeface="Arial" panose="020B0604020202020204" pitchFamily="34" charset="0"/>
                <a:cs typeface="Arial" panose="020B0604020202020204" pitchFamily="34" charset="0"/>
              </a:rPr>
              <a:t>Problema</a:t>
            </a:r>
          </a:p>
          <a:p>
            <a:pPr algn="ctr"/>
            <a:endParaRPr lang="es-MX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Información médica fragmentada.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DB1DFD32-2B62-2B1C-41F5-95576AA77117}"/>
              </a:ext>
            </a:extLst>
          </p:cNvPr>
          <p:cNvSpPr/>
          <p:nvPr/>
        </p:nvSpPr>
        <p:spPr>
          <a:xfrm>
            <a:off x="2655987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Solución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Módulo integrado.</a:t>
            </a:r>
          </a:p>
        </p:txBody>
      </p:sp>
      <p:sp>
        <p:nvSpPr>
          <p:cNvPr id="13" name="Rectángulo 12">
            <a:extLst>
              <a:ext uri="{FF2B5EF4-FFF2-40B4-BE49-F238E27FC236}">
                <a16:creationId xmlns:a16="http://schemas.microsoft.com/office/drawing/2014/main" id="{7570B87B-286E-4868-5F59-BBF57916B99B}"/>
              </a:ext>
            </a:extLst>
          </p:cNvPr>
          <p:cNvSpPr/>
          <p:nvPr/>
        </p:nvSpPr>
        <p:spPr>
          <a:xfrm>
            <a:off x="5181600" y="2713214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Tecnología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Flutter + Node.js + PostgreSQL + MinIO/S3</a:t>
            </a:r>
          </a:p>
        </p:txBody>
      </p:sp>
      <p:sp>
        <p:nvSpPr>
          <p:cNvPr id="15" name="Rectángulo 14">
            <a:extLst>
              <a:ext uri="{FF2B5EF4-FFF2-40B4-BE49-F238E27FC236}">
                <a16:creationId xmlns:a16="http://schemas.microsoft.com/office/drawing/2014/main" id="{4C242D7E-A396-BC12-8806-083855900C4C}"/>
              </a:ext>
            </a:extLst>
          </p:cNvPr>
          <p:cNvSpPr/>
          <p:nvPr/>
        </p:nvSpPr>
        <p:spPr>
          <a:xfrm>
            <a:off x="7707213" y="2713213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Metodología</a:t>
            </a:r>
          </a:p>
          <a:p>
            <a:pPr algn="ctr"/>
            <a:endParaRPr lang="es-CL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Scrum · 18 semanas</a:t>
            </a: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8D0A0398-3B98-E2FD-B62F-371199A860E2}"/>
              </a:ext>
            </a:extLst>
          </p:cNvPr>
          <p:cNvSpPr/>
          <p:nvPr/>
        </p:nvSpPr>
        <p:spPr>
          <a:xfrm>
            <a:off x="10227013" y="2713215"/>
            <a:ext cx="1828800" cy="2683239"/>
          </a:xfrm>
          <a:prstGeom prst="rect">
            <a:avLst/>
          </a:prstGeom>
          <a:effectLst>
            <a:glow rad="228600">
              <a:schemeClr val="accent3">
                <a:satMod val="175000"/>
                <a:alpha val="40000"/>
              </a:schemeClr>
            </a:glow>
          </a:effectLst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CL" b="1" dirty="0">
                <a:latin typeface="Arial" panose="020B0604020202020204" pitchFamily="34" charset="0"/>
                <a:cs typeface="Arial" panose="020B0604020202020204" pitchFamily="34" charset="0"/>
              </a:rPr>
              <a:t>Resultado</a:t>
            </a:r>
          </a:p>
          <a:p>
            <a:pPr algn="ctr"/>
            <a:endParaRPr lang="es-CL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CL" dirty="0">
                <a:latin typeface="Arial" panose="020B0604020202020204" pitchFamily="34" charset="0"/>
                <a:cs typeface="Arial" panose="020B0604020202020204" pitchFamily="34" charset="0"/>
              </a:rPr>
              <a:t>Una solución organizada, segura y funcional.</a:t>
            </a:r>
          </a:p>
        </p:txBody>
      </p:sp>
      <p:cxnSp>
        <p:nvCxnSpPr>
          <p:cNvPr id="19" name="Conector recto de flecha 18">
            <a:extLst>
              <a:ext uri="{FF2B5EF4-FFF2-40B4-BE49-F238E27FC236}">
                <a16:creationId xmlns:a16="http://schemas.microsoft.com/office/drawing/2014/main" id="{029F83A5-F7DC-ACF8-4165-517717A34B82}"/>
              </a:ext>
            </a:extLst>
          </p:cNvPr>
          <p:cNvCxnSpPr>
            <a:stCxn id="2" idx="3"/>
          </p:cNvCxnSpPr>
          <p:nvPr/>
        </p:nvCxnSpPr>
        <p:spPr>
          <a:xfrm flipV="1">
            <a:off x="1959175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cto de flecha 19">
            <a:extLst>
              <a:ext uri="{FF2B5EF4-FFF2-40B4-BE49-F238E27FC236}">
                <a16:creationId xmlns:a16="http://schemas.microsoft.com/office/drawing/2014/main" id="{DC955DBE-E500-964D-925A-13A2CDBF241C}"/>
              </a:ext>
            </a:extLst>
          </p:cNvPr>
          <p:cNvCxnSpPr/>
          <p:nvPr/>
        </p:nvCxnSpPr>
        <p:spPr>
          <a:xfrm flipV="1">
            <a:off x="4484787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ector recto de flecha 20">
            <a:extLst>
              <a:ext uri="{FF2B5EF4-FFF2-40B4-BE49-F238E27FC236}">
                <a16:creationId xmlns:a16="http://schemas.microsoft.com/office/drawing/2014/main" id="{46F79F4F-2C4B-045C-5CE1-A14E1DAEEEF7}"/>
              </a:ext>
            </a:extLst>
          </p:cNvPr>
          <p:cNvCxnSpPr/>
          <p:nvPr/>
        </p:nvCxnSpPr>
        <p:spPr>
          <a:xfrm flipV="1">
            <a:off x="7010400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ector recto de flecha 21">
            <a:extLst>
              <a:ext uri="{FF2B5EF4-FFF2-40B4-BE49-F238E27FC236}">
                <a16:creationId xmlns:a16="http://schemas.microsoft.com/office/drawing/2014/main" id="{7781C6B6-A6D3-29F1-25B5-DCB28276138C}"/>
              </a:ext>
            </a:extLst>
          </p:cNvPr>
          <p:cNvCxnSpPr/>
          <p:nvPr/>
        </p:nvCxnSpPr>
        <p:spPr>
          <a:xfrm flipV="1">
            <a:off x="9536013" y="4054832"/>
            <a:ext cx="574163" cy="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883320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6" name="Rectangle 2061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2067" name="Freeform: Shape 2063">
            <a:extLst>
              <a:ext uri="{FF2B5EF4-FFF2-40B4-BE49-F238E27FC236}">
                <a16:creationId xmlns:a16="http://schemas.microsoft.com/office/drawing/2014/main" id="{BB4D578A-F2C4-4EA9-A811-B48E66D63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940492"/>
            <a:ext cx="12192000" cy="1924333"/>
          </a:xfrm>
          <a:custGeom>
            <a:avLst/>
            <a:gdLst>
              <a:gd name="connsiteX0" fmla="*/ 6189199 w 12192000"/>
              <a:gd name="connsiteY0" fmla="*/ 588 h 1924333"/>
              <a:gd name="connsiteX1" fmla="*/ 6207079 w 12192000"/>
              <a:gd name="connsiteY1" fmla="*/ 2850 h 1924333"/>
              <a:gd name="connsiteX2" fmla="*/ 6285610 w 12192000"/>
              <a:gd name="connsiteY2" fmla="*/ 18131 h 1924333"/>
              <a:gd name="connsiteX3" fmla="*/ 6378008 w 12192000"/>
              <a:gd name="connsiteY3" fmla="*/ 24625 h 1924333"/>
              <a:gd name="connsiteX4" fmla="*/ 6466340 w 12192000"/>
              <a:gd name="connsiteY4" fmla="*/ 21366 h 1924333"/>
              <a:gd name="connsiteX5" fmla="*/ 6553334 w 12192000"/>
              <a:gd name="connsiteY5" fmla="*/ 35307 h 1924333"/>
              <a:gd name="connsiteX6" fmla="*/ 6626068 w 12192000"/>
              <a:gd name="connsiteY6" fmla="*/ 58045 h 1924333"/>
              <a:gd name="connsiteX7" fmla="*/ 6692303 w 12192000"/>
              <a:gd name="connsiteY7" fmla="*/ 91487 h 1924333"/>
              <a:gd name="connsiteX8" fmla="*/ 6733670 w 12192000"/>
              <a:gd name="connsiteY8" fmla="*/ 118130 h 1924333"/>
              <a:gd name="connsiteX9" fmla="*/ 6798016 w 12192000"/>
              <a:gd name="connsiteY9" fmla="*/ 112271 h 1924333"/>
              <a:gd name="connsiteX10" fmla="*/ 6801081 w 12192000"/>
              <a:gd name="connsiteY10" fmla="*/ 114963 h 1924333"/>
              <a:gd name="connsiteX11" fmla="*/ 6819351 w 12192000"/>
              <a:gd name="connsiteY11" fmla="*/ 128825 h 1924333"/>
              <a:gd name="connsiteX12" fmla="*/ 6852732 w 12192000"/>
              <a:gd name="connsiteY12" fmla="*/ 123321 h 1924333"/>
              <a:gd name="connsiteX13" fmla="*/ 6865247 w 12192000"/>
              <a:gd name="connsiteY13" fmla="*/ 128836 h 1924333"/>
              <a:gd name="connsiteX14" fmla="*/ 6905517 w 12192000"/>
              <a:gd name="connsiteY14" fmla="*/ 129265 h 1924333"/>
              <a:gd name="connsiteX15" fmla="*/ 6950286 w 12192000"/>
              <a:gd name="connsiteY15" fmla="*/ 150104 h 1924333"/>
              <a:gd name="connsiteX16" fmla="*/ 7003442 w 12192000"/>
              <a:gd name="connsiteY16" fmla="*/ 136136 h 1924333"/>
              <a:gd name="connsiteX17" fmla="*/ 7160047 w 12192000"/>
              <a:gd name="connsiteY17" fmla="*/ 166721 h 1924333"/>
              <a:gd name="connsiteX18" fmla="*/ 7325604 w 12192000"/>
              <a:gd name="connsiteY18" fmla="*/ 215867 h 1924333"/>
              <a:gd name="connsiteX19" fmla="*/ 7540522 w 12192000"/>
              <a:gd name="connsiteY19" fmla="*/ 239374 h 1924333"/>
              <a:gd name="connsiteX20" fmla="*/ 7612071 w 12192000"/>
              <a:gd name="connsiteY20" fmla="*/ 229553 h 1924333"/>
              <a:gd name="connsiteX21" fmla="*/ 7651995 w 12192000"/>
              <a:gd name="connsiteY21" fmla="*/ 244567 h 1924333"/>
              <a:gd name="connsiteX22" fmla="*/ 7725761 w 12192000"/>
              <a:gd name="connsiteY22" fmla="*/ 258638 h 1924333"/>
              <a:gd name="connsiteX23" fmla="*/ 7823038 w 12192000"/>
              <a:gd name="connsiteY23" fmla="*/ 287078 h 1924333"/>
              <a:gd name="connsiteX24" fmla="*/ 7866405 w 12192000"/>
              <a:gd name="connsiteY24" fmla="*/ 287288 h 1924333"/>
              <a:gd name="connsiteX25" fmla="*/ 7875021 w 12192000"/>
              <a:gd name="connsiteY25" fmla="*/ 288224 h 1924333"/>
              <a:gd name="connsiteX26" fmla="*/ 7875146 w 12192000"/>
              <a:gd name="connsiteY26" fmla="*/ 288614 h 1924333"/>
              <a:gd name="connsiteX27" fmla="*/ 7907443 w 12192000"/>
              <a:gd name="connsiteY27" fmla="*/ 291752 h 1924333"/>
              <a:gd name="connsiteX28" fmla="*/ 7912892 w 12192000"/>
              <a:gd name="connsiteY28" fmla="*/ 294833 h 1924333"/>
              <a:gd name="connsiteX29" fmla="*/ 7946345 w 12192000"/>
              <a:gd name="connsiteY29" fmla="*/ 319359 h 1924333"/>
              <a:gd name="connsiteX30" fmla="*/ 8021238 w 12192000"/>
              <a:gd name="connsiteY30" fmla="*/ 315159 h 1924333"/>
              <a:gd name="connsiteX31" fmla="*/ 8094697 w 12192000"/>
              <a:gd name="connsiteY31" fmla="*/ 351819 h 1924333"/>
              <a:gd name="connsiteX32" fmla="*/ 8155208 w 12192000"/>
              <a:gd name="connsiteY32" fmla="*/ 371168 h 1924333"/>
              <a:gd name="connsiteX33" fmla="*/ 8248472 w 12192000"/>
              <a:gd name="connsiteY33" fmla="*/ 400489 h 1924333"/>
              <a:gd name="connsiteX34" fmla="*/ 8300068 w 12192000"/>
              <a:gd name="connsiteY34" fmla="*/ 405531 h 1924333"/>
              <a:gd name="connsiteX35" fmla="*/ 8356293 w 12192000"/>
              <a:gd name="connsiteY35" fmla="*/ 403328 h 1924333"/>
              <a:gd name="connsiteX36" fmla="*/ 8475838 w 12192000"/>
              <a:gd name="connsiteY36" fmla="*/ 435524 h 1924333"/>
              <a:gd name="connsiteX37" fmla="*/ 8575216 w 12192000"/>
              <a:gd name="connsiteY37" fmla="*/ 450198 h 1924333"/>
              <a:gd name="connsiteX38" fmla="*/ 8588650 w 12192000"/>
              <a:gd name="connsiteY38" fmla="*/ 447070 h 1924333"/>
              <a:gd name="connsiteX39" fmla="*/ 8612184 w 12192000"/>
              <a:gd name="connsiteY39" fmla="*/ 439577 h 1924333"/>
              <a:gd name="connsiteX40" fmla="*/ 8630713 w 12192000"/>
              <a:gd name="connsiteY40" fmla="*/ 433015 h 1924333"/>
              <a:gd name="connsiteX41" fmla="*/ 8704240 w 12192000"/>
              <a:gd name="connsiteY41" fmla="*/ 422865 h 1924333"/>
              <a:gd name="connsiteX42" fmla="*/ 8829513 w 12192000"/>
              <a:gd name="connsiteY42" fmla="*/ 429389 h 1924333"/>
              <a:gd name="connsiteX43" fmla="*/ 9083651 w 12192000"/>
              <a:gd name="connsiteY43" fmla="*/ 390744 h 1924333"/>
              <a:gd name="connsiteX44" fmla="*/ 9371402 w 12192000"/>
              <a:gd name="connsiteY44" fmla="*/ 371809 h 1924333"/>
              <a:gd name="connsiteX45" fmla="*/ 9429586 w 12192000"/>
              <a:gd name="connsiteY45" fmla="*/ 369213 h 1924333"/>
              <a:gd name="connsiteX46" fmla="*/ 9489757 w 12192000"/>
              <a:gd name="connsiteY46" fmla="*/ 377814 h 1924333"/>
              <a:gd name="connsiteX47" fmla="*/ 9516954 w 12192000"/>
              <a:gd name="connsiteY47" fmla="*/ 376991 h 1924333"/>
              <a:gd name="connsiteX48" fmla="*/ 9645588 w 12192000"/>
              <a:gd name="connsiteY48" fmla="*/ 363590 h 1924333"/>
              <a:gd name="connsiteX49" fmla="*/ 9722896 w 12192000"/>
              <a:gd name="connsiteY49" fmla="*/ 360983 h 1924333"/>
              <a:gd name="connsiteX50" fmla="*/ 9752803 w 12192000"/>
              <a:gd name="connsiteY50" fmla="*/ 368492 h 1924333"/>
              <a:gd name="connsiteX51" fmla="*/ 9890305 w 12192000"/>
              <a:gd name="connsiteY51" fmla="*/ 380736 h 1924333"/>
              <a:gd name="connsiteX52" fmla="*/ 9939767 w 12192000"/>
              <a:gd name="connsiteY52" fmla="*/ 377776 h 1924333"/>
              <a:gd name="connsiteX53" fmla="*/ 9944355 w 12192000"/>
              <a:gd name="connsiteY53" fmla="*/ 377352 h 1924333"/>
              <a:gd name="connsiteX54" fmla="*/ 9953719 w 12192000"/>
              <a:gd name="connsiteY54" fmla="*/ 375642 h 1924333"/>
              <a:gd name="connsiteX55" fmla="*/ 9955809 w 12192000"/>
              <a:gd name="connsiteY55" fmla="*/ 376294 h 1924333"/>
              <a:gd name="connsiteX56" fmla="*/ 10032710 w 12192000"/>
              <a:gd name="connsiteY56" fmla="*/ 394940 h 1924333"/>
              <a:gd name="connsiteX57" fmla="*/ 10049925 w 12192000"/>
              <a:gd name="connsiteY57" fmla="*/ 404971 h 1924333"/>
              <a:gd name="connsiteX58" fmla="*/ 10112671 w 12192000"/>
              <a:gd name="connsiteY58" fmla="*/ 414549 h 1924333"/>
              <a:gd name="connsiteX59" fmla="*/ 10170853 w 12192000"/>
              <a:gd name="connsiteY59" fmla="*/ 435168 h 1924333"/>
              <a:gd name="connsiteX60" fmla="*/ 10290184 w 12192000"/>
              <a:gd name="connsiteY60" fmla="*/ 448123 h 1924333"/>
              <a:gd name="connsiteX61" fmla="*/ 10320158 w 12192000"/>
              <a:gd name="connsiteY61" fmla="*/ 458352 h 1924333"/>
              <a:gd name="connsiteX62" fmla="*/ 10321815 w 12192000"/>
              <a:gd name="connsiteY62" fmla="*/ 463087 h 1924333"/>
              <a:gd name="connsiteX63" fmla="*/ 10373742 w 12192000"/>
              <a:gd name="connsiteY63" fmla="*/ 464538 h 1924333"/>
              <a:gd name="connsiteX64" fmla="*/ 10428532 w 12192000"/>
              <a:gd name="connsiteY64" fmla="*/ 492504 h 1924333"/>
              <a:gd name="connsiteX65" fmla="*/ 10466490 w 12192000"/>
              <a:gd name="connsiteY65" fmla="*/ 517759 h 1924333"/>
              <a:gd name="connsiteX66" fmla="*/ 10466675 w 12192000"/>
              <a:gd name="connsiteY66" fmla="*/ 522076 h 1924333"/>
              <a:gd name="connsiteX67" fmla="*/ 10470309 w 12192000"/>
              <a:gd name="connsiteY67" fmla="*/ 522792 h 1924333"/>
              <a:gd name="connsiteX68" fmla="*/ 10474138 w 12192000"/>
              <a:gd name="connsiteY68" fmla="*/ 519761 h 1924333"/>
              <a:gd name="connsiteX69" fmla="*/ 10501100 w 12192000"/>
              <a:gd name="connsiteY69" fmla="*/ 528263 h 1924333"/>
              <a:gd name="connsiteX70" fmla="*/ 10502395 w 12192000"/>
              <a:gd name="connsiteY70" fmla="*/ 536393 h 1924333"/>
              <a:gd name="connsiteX71" fmla="*/ 10689496 w 12192000"/>
              <a:gd name="connsiteY71" fmla="*/ 560233 h 1924333"/>
              <a:gd name="connsiteX72" fmla="*/ 10788736 w 12192000"/>
              <a:gd name="connsiteY72" fmla="*/ 613188 h 1924333"/>
              <a:gd name="connsiteX73" fmla="*/ 10819747 w 12192000"/>
              <a:gd name="connsiteY73" fmla="*/ 621351 h 1924333"/>
              <a:gd name="connsiteX74" fmla="*/ 10864632 w 12192000"/>
              <a:gd name="connsiteY74" fmla="*/ 644858 h 1924333"/>
              <a:gd name="connsiteX75" fmla="*/ 10929407 w 12192000"/>
              <a:gd name="connsiteY75" fmla="*/ 652945 h 1924333"/>
              <a:gd name="connsiteX76" fmla="*/ 10979412 w 12192000"/>
              <a:gd name="connsiteY76" fmla="*/ 654217 h 1924333"/>
              <a:gd name="connsiteX77" fmla="*/ 11006959 w 12192000"/>
              <a:gd name="connsiteY77" fmla="*/ 657017 h 1924333"/>
              <a:gd name="connsiteX78" fmla="*/ 11077038 w 12192000"/>
              <a:gd name="connsiteY78" fmla="*/ 668487 h 1924333"/>
              <a:gd name="connsiteX79" fmla="*/ 11157850 w 12192000"/>
              <a:gd name="connsiteY79" fmla="*/ 693164 h 1924333"/>
              <a:gd name="connsiteX80" fmla="*/ 11175276 w 12192000"/>
              <a:gd name="connsiteY80" fmla="*/ 697243 h 1924333"/>
              <a:gd name="connsiteX81" fmla="*/ 11191131 w 12192000"/>
              <a:gd name="connsiteY81" fmla="*/ 696085 h 1924333"/>
              <a:gd name="connsiteX82" fmla="*/ 11195573 w 12192000"/>
              <a:gd name="connsiteY82" fmla="*/ 691751 h 1924333"/>
              <a:gd name="connsiteX83" fmla="*/ 11205299 w 12192000"/>
              <a:gd name="connsiteY83" fmla="*/ 693247 h 1924333"/>
              <a:gd name="connsiteX84" fmla="*/ 11223770 w 12192000"/>
              <a:gd name="connsiteY84" fmla="*/ 690335 h 1924333"/>
              <a:gd name="connsiteX85" fmla="*/ 11292119 w 12192000"/>
              <a:gd name="connsiteY85" fmla="*/ 713311 h 1924333"/>
              <a:gd name="connsiteX86" fmla="*/ 11435379 w 12192000"/>
              <a:gd name="connsiteY86" fmla="*/ 758519 h 1924333"/>
              <a:gd name="connsiteX87" fmla="*/ 11604406 w 12192000"/>
              <a:gd name="connsiteY87" fmla="*/ 810476 h 1924333"/>
              <a:gd name="connsiteX88" fmla="*/ 11652155 w 12192000"/>
              <a:gd name="connsiteY88" fmla="*/ 825109 h 1924333"/>
              <a:gd name="connsiteX89" fmla="*/ 11654192 w 12192000"/>
              <a:gd name="connsiteY89" fmla="*/ 827301 h 1924333"/>
              <a:gd name="connsiteX90" fmla="*/ 11676599 w 12192000"/>
              <a:gd name="connsiteY90" fmla="*/ 846628 h 1924333"/>
              <a:gd name="connsiteX91" fmla="*/ 11775168 w 12192000"/>
              <a:gd name="connsiteY91" fmla="*/ 890664 h 1924333"/>
              <a:gd name="connsiteX92" fmla="*/ 11826341 w 12192000"/>
              <a:gd name="connsiteY92" fmla="*/ 877558 h 1924333"/>
              <a:gd name="connsiteX93" fmla="*/ 11879068 w 12192000"/>
              <a:gd name="connsiteY93" fmla="*/ 874038 h 1924333"/>
              <a:gd name="connsiteX94" fmla="*/ 11889563 w 12192000"/>
              <a:gd name="connsiteY94" fmla="*/ 878619 h 1924333"/>
              <a:gd name="connsiteX95" fmla="*/ 12016613 w 12192000"/>
              <a:gd name="connsiteY95" fmla="*/ 886111 h 1924333"/>
              <a:gd name="connsiteX96" fmla="*/ 12108292 w 12192000"/>
              <a:gd name="connsiteY96" fmla="*/ 868500 h 1924333"/>
              <a:gd name="connsiteX97" fmla="*/ 12182910 w 12192000"/>
              <a:gd name="connsiteY97" fmla="*/ 882003 h 1924333"/>
              <a:gd name="connsiteX98" fmla="*/ 12192000 w 12192000"/>
              <a:gd name="connsiteY98" fmla="*/ 884778 h 1924333"/>
              <a:gd name="connsiteX99" fmla="*/ 12192000 w 12192000"/>
              <a:gd name="connsiteY99" fmla="*/ 1610315 h 1924333"/>
              <a:gd name="connsiteX100" fmla="*/ 12191998 w 12192000"/>
              <a:gd name="connsiteY100" fmla="*/ 1610315 h 1924333"/>
              <a:gd name="connsiteX101" fmla="*/ 12191998 w 12192000"/>
              <a:gd name="connsiteY101" fmla="*/ 1924333 h 1924333"/>
              <a:gd name="connsiteX102" fmla="*/ 0 w 12192000"/>
              <a:gd name="connsiteY102" fmla="*/ 1924333 h 1924333"/>
              <a:gd name="connsiteX103" fmla="*/ 0 w 12192000"/>
              <a:gd name="connsiteY103" fmla="*/ 505159 h 1924333"/>
              <a:gd name="connsiteX104" fmla="*/ 5722 w 12192000"/>
              <a:gd name="connsiteY104" fmla="*/ 508889 h 1924333"/>
              <a:gd name="connsiteX105" fmla="*/ 38476 w 12192000"/>
              <a:gd name="connsiteY105" fmla="*/ 524137 h 1924333"/>
              <a:gd name="connsiteX106" fmla="*/ 192883 w 12192000"/>
              <a:gd name="connsiteY106" fmla="*/ 545272 h 1924333"/>
              <a:gd name="connsiteX107" fmla="*/ 343710 w 12192000"/>
              <a:gd name="connsiteY107" fmla="*/ 565029 h 1924333"/>
              <a:gd name="connsiteX108" fmla="*/ 471066 w 12192000"/>
              <a:gd name="connsiteY108" fmla="*/ 549837 h 1924333"/>
              <a:gd name="connsiteX109" fmla="*/ 617333 w 12192000"/>
              <a:gd name="connsiteY109" fmla="*/ 526428 h 1924333"/>
              <a:gd name="connsiteX110" fmla="*/ 725203 w 12192000"/>
              <a:gd name="connsiteY110" fmla="*/ 523793 h 1924333"/>
              <a:gd name="connsiteX111" fmla="*/ 788494 w 12192000"/>
              <a:gd name="connsiteY111" fmla="*/ 505799 h 1924333"/>
              <a:gd name="connsiteX112" fmla="*/ 885977 w 12192000"/>
              <a:gd name="connsiteY112" fmla="*/ 526585 h 1924333"/>
              <a:gd name="connsiteX113" fmla="*/ 932142 w 12192000"/>
              <a:gd name="connsiteY113" fmla="*/ 528005 h 1924333"/>
              <a:gd name="connsiteX114" fmla="*/ 1090404 w 12192000"/>
              <a:gd name="connsiteY114" fmla="*/ 498299 h 1924333"/>
              <a:gd name="connsiteX115" fmla="*/ 1188628 w 12192000"/>
              <a:gd name="connsiteY115" fmla="*/ 483151 h 1924333"/>
              <a:gd name="connsiteX116" fmla="*/ 1316247 w 12192000"/>
              <a:gd name="connsiteY116" fmla="*/ 425979 h 1924333"/>
              <a:gd name="connsiteX117" fmla="*/ 1357712 w 12192000"/>
              <a:gd name="connsiteY117" fmla="*/ 416549 h 1924333"/>
              <a:gd name="connsiteX118" fmla="*/ 1425921 w 12192000"/>
              <a:gd name="connsiteY118" fmla="*/ 413953 h 1924333"/>
              <a:gd name="connsiteX119" fmla="*/ 1503817 w 12192000"/>
              <a:gd name="connsiteY119" fmla="*/ 380457 h 1924333"/>
              <a:gd name="connsiteX120" fmla="*/ 1639196 w 12192000"/>
              <a:gd name="connsiteY120" fmla="*/ 372785 h 1924333"/>
              <a:gd name="connsiteX121" fmla="*/ 1705606 w 12192000"/>
              <a:gd name="connsiteY121" fmla="*/ 359023 h 1924333"/>
              <a:gd name="connsiteX122" fmla="*/ 1813011 w 12192000"/>
              <a:gd name="connsiteY122" fmla="*/ 331023 h 1924333"/>
              <a:gd name="connsiteX123" fmla="*/ 1831380 w 12192000"/>
              <a:gd name="connsiteY123" fmla="*/ 341307 h 1924333"/>
              <a:gd name="connsiteX124" fmla="*/ 1858612 w 12192000"/>
              <a:gd name="connsiteY124" fmla="*/ 326777 h 1924333"/>
              <a:gd name="connsiteX125" fmla="*/ 1880661 w 12192000"/>
              <a:gd name="connsiteY125" fmla="*/ 335987 h 1924333"/>
              <a:gd name="connsiteX126" fmla="*/ 1941495 w 12192000"/>
              <a:gd name="connsiteY126" fmla="*/ 310792 h 1924333"/>
              <a:gd name="connsiteX127" fmla="*/ 1995402 w 12192000"/>
              <a:gd name="connsiteY127" fmla="*/ 305480 h 1924333"/>
              <a:gd name="connsiteX128" fmla="*/ 2223864 w 12192000"/>
              <a:gd name="connsiteY128" fmla="*/ 266118 h 1924333"/>
              <a:gd name="connsiteX129" fmla="*/ 2418043 w 12192000"/>
              <a:gd name="connsiteY129" fmla="*/ 215314 h 1924333"/>
              <a:gd name="connsiteX130" fmla="*/ 2558461 w 12192000"/>
              <a:gd name="connsiteY130" fmla="*/ 168193 h 1924333"/>
              <a:gd name="connsiteX131" fmla="*/ 2595535 w 12192000"/>
              <a:gd name="connsiteY131" fmla="*/ 158548 h 1924333"/>
              <a:gd name="connsiteX132" fmla="*/ 2626942 w 12192000"/>
              <a:gd name="connsiteY132" fmla="*/ 130400 h 1924333"/>
              <a:gd name="connsiteX133" fmla="*/ 2632225 w 12192000"/>
              <a:gd name="connsiteY133" fmla="*/ 130446 h 1924333"/>
              <a:gd name="connsiteX134" fmla="*/ 2696856 w 12192000"/>
              <a:gd name="connsiteY134" fmla="*/ 128498 h 1924333"/>
              <a:gd name="connsiteX135" fmla="*/ 2759767 w 12192000"/>
              <a:gd name="connsiteY135" fmla="*/ 127784 h 1924333"/>
              <a:gd name="connsiteX136" fmla="*/ 2792685 w 12192000"/>
              <a:gd name="connsiteY136" fmla="*/ 115710 h 1924333"/>
              <a:gd name="connsiteX137" fmla="*/ 2799767 w 12192000"/>
              <a:gd name="connsiteY137" fmla="*/ 113754 h 1924333"/>
              <a:gd name="connsiteX138" fmla="*/ 2829799 w 12192000"/>
              <a:gd name="connsiteY138" fmla="*/ 120042 h 1924333"/>
              <a:gd name="connsiteX139" fmla="*/ 2890704 w 12192000"/>
              <a:gd name="connsiteY139" fmla="*/ 121493 h 1924333"/>
              <a:gd name="connsiteX140" fmla="*/ 3042646 w 12192000"/>
              <a:gd name="connsiteY140" fmla="*/ 112273 h 1924333"/>
              <a:gd name="connsiteX141" fmla="*/ 3146630 w 12192000"/>
              <a:gd name="connsiteY141" fmla="*/ 100898 h 1924333"/>
              <a:gd name="connsiteX142" fmla="*/ 3233163 w 12192000"/>
              <a:gd name="connsiteY142" fmla="*/ 120200 h 1924333"/>
              <a:gd name="connsiteX143" fmla="*/ 3372699 w 12192000"/>
              <a:gd name="connsiteY143" fmla="*/ 129394 h 1924333"/>
              <a:gd name="connsiteX144" fmla="*/ 3394352 w 12192000"/>
              <a:gd name="connsiteY144" fmla="*/ 131671 h 1924333"/>
              <a:gd name="connsiteX145" fmla="*/ 3448218 w 12192000"/>
              <a:gd name="connsiteY145" fmla="*/ 118229 h 1924333"/>
              <a:gd name="connsiteX146" fmla="*/ 3505047 w 12192000"/>
              <a:gd name="connsiteY146" fmla="*/ 115412 h 1924333"/>
              <a:gd name="connsiteX147" fmla="*/ 3521767 w 12192000"/>
              <a:gd name="connsiteY147" fmla="*/ 111071 h 1924333"/>
              <a:gd name="connsiteX148" fmla="*/ 3585137 w 12192000"/>
              <a:gd name="connsiteY148" fmla="*/ 114371 h 1924333"/>
              <a:gd name="connsiteX149" fmla="*/ 3690293 w 12192000"/>
              <a:gd name="connsiteY149" fmla="*/ 98301 h 1924333"/>
              <a:gd name="connsiteX150" fmla="*/ 3867818 w 12192000"/>
              <a:gd name="connsiteY150" fmla="*/ 88985 h 1924333"/>
              <a:gd name="connsiteX151" fmla="*/ 4091337 w 12192000"/>
              <a:gd name="connsiteY151" fmla="*/ 70813 h 1924333"/>
              <a:gd name="connsiteX152" fmla="*/ 4246332 w 12192000"/>
              <a:gd name="connsiteY152" fmla="*/ 41697 h 1924333"/>
              <a:gd name="connsiteX153" fmla="*/ 4266975 w 12192000"/>
              <a:gd name="connsiteY153" fmla="*/ 46592 h 1924333"/>
              <a:gd name="connsiteX154" fmla="*/ 4270566 w 12192000"/>
              <a:gd name="connsiteY154" fmla="*/ 47620 h 1924333"/>
              <a:gd name="connsiteX155" fmla="*/ 4288964 w 12192000"/>
              <a:gd name="connsiteY155" fmla="*/ 52766 h 1924333"/>
              <a:gd name="connsiteX156" fmla="*/ 4365137 w 12192000"/>
              <a:gd name="connsiteY156" fmla="*/ 51783 h 1924333"/>
              <a:gd name="connsiteX157" fmla="*/ 4430546 w 12192000"/>
              <a:gd name="connsiteY157" fmla="*/ 44555 h 1924333"/>
              <a:gd name="connsiteX158" fmla="*/ 4444136 w 12192000"/>
              <a:gd name="connsiteY158" fmla="*/ 39567 h 1924333"/>
              <a:gd name="connsiteX159" fmla="*/ 4534039 w 12192000"/>
              <a:gd name="connsiteY159" fmla="*/ 31604 h 1924333"/>
              <a:gd name="connsiteX160" fmla="*/ 4560448 w 12192000"/>
              <a:gd name="connsiteY160" fmla="*/ 25231 h 1924333"/>
              <a:gd name="connsiteX161" fmla="*/ 4568006 w 12192000"/>
              <a:gd name="connsiteY161" fmla="*/ 25970 h 1924333"/>
              <a:gd name="connsiteX162" fmla="*/ 4595497 w 12192000"/>
              <a:gd name="connsiteY162" fmla="*/ 22958 h 1924333"/>
              <a:gd name="connsiteX163" fmla="*/ 4608623 w 12192000"/>
              <a:gd name="connsiteY163" fmla="*/ 18108 h 1924333"/>
              <a:gd name="connsiteX164" fmla="*/ 4623942 w 12192000"/>
              <a:gd name="connsiteY164" fmla="*/ 22251 h 1924333"/>
              <a:gd name="connsiteX165" fmla="*/ 4664336 w 12192000"/>
              <a:gd name="connsiteY165" fmla="*/ 23306 h 1924333"/>
              <a:gd name="connsiteX166" fmla="*/ 4677385 w 12192000"/>
              <a:gd name="connsiteY166" fmla="*/ 18246 h 1924333"/>
              <a:gd name="connsiteX167" fmla="*/ 4698143 w 12192000"/>
              <a:gd name="connsiteY167" fmla="*/ 18036 h 1924333"/>
              <a:gd name="connsiteX168" fmla="*/ 4750609 w 12192000"/>
              <a:gd name="connsiteY168" fmla="*/ 23611 h 1924333"/>
              <a:gd name="connsiteX169" fmla="*/ 4784658 w 12192000"/>
              <a:gd name="connsiteY169" fmla="*/ 25057 h 1924333"/>
              <a:gd name="connsiteX170" fmla="*/ 4847558 w 12192000"/>
              <a:gd name="connsiteY170" fmla="*/ 38726 h 1924333"/>
              <a:gd name="connsiteX171" fmla="*/ 4909134 w 12192000"/>
              <a:gd name="connsiteY171" fmla="*/ 50659 h 1924333"/>
              <a:gd name="connsiteX172" fmla="*/ 5099219 w 12192000"/>
              <a:gd name="connsiteY172" fmla="*/ 55050 h 1924333"/>
              <a:gd name="connsiteX173" fmla="*/ 5184992 w 12192000"/>
              <a:gd name="connsiteY173" fmla="*/ 67596 h 1924333"/>
              <a:gd name="connsiteX174" fmla="*/ 5229637 w 12192000"/>
              <a:gd name="connsiteY174" fmla="*/ 67789 h 1924333"/>
              <a:gd name="connsiteX175" fmla="*/ 5389346 w 12192000"/>
              <a:gd name="connsiteY175" fmla="*/ 80211 h 1924333"/>
              <a:gd name="connsiteX176" fmla="*/ 5494414 w 12192000"/>
              <a:gd name="connsiteY176" fmla="*/ 75926 h 1924333"/>
              <a:gd name="connsiteX177" fmla="*/ 5528443 w 12192000"/>
              <a:gd name="connsiteY177" fmla="*/ 77206 h 1924333"/>
              <a:gd name="connsiteX178" fmla="*/ 5684939 w 12192000"/>
              <a:gd name="connsiteY178" fmla="*/ 50269 h 1924333"/>
              <a:gd name="connsiteX179" fmla="*/ 5765146 w 12192000"/>
              <a:gd name="connsiteY179" fmla="*/ 50414 h 1924333"/>
              <a:gd name="connsiteX180" fmla="*/ 5848655 w 12192000"/>
              <a:gd name="connsiteY180" fmla="*/ 35257 h 1924333"/>
              <a:gd name="connsiteX181" fmla="*/ 5930656 w 12192000"/>
              <a:gd name="connsiteY181" fmla="*/ 30131 h 1924333"/>
              <a:gd name="connsiteX182" fmla="*/ 6124150 w 12192000"/>
              <a:gd name="connsiteY182" fmla="*/ 31679 h 1924333"/>
              <a:gd name="connsiteX183" fmla="*/ 6189199 w 12192000"/>
              <a:gd name="connsiteY183" fmla="*/ 588 h 19243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</a:cxnLst>
            <a:rect l="l" t="t" r="r" b="b"/>
            <a:pathLst>
              <a:path w="12192000" h="1924333">
                <a:moveTo>
                  <a:pt x="6189199" y="588"/>
                </a:moveTo>
                <a:cubicBezTo>
                  <a:pt x="6196356" y="-574"/>
                  <a:pt x="6202609" y="-108"/>
                  <a:pt x="6207079" y="2850"/>
                </a:cubicBezTo>
                <a:cubicBezTo>
                  <a:pt x="6222026" y="2749"/>
                  <a:pt x="6273489" y="3767"/>
                  <a:pt x="6285610" y="18131"/>
                </a:cubicBezTo>
                <a:cubicBezTo>
                  <a:pt x="6307255" y="18685"/>
                  <a:pt x="6357141" y="23793"/>
                  <a:pt x="6378008" y="24625"/>
                </a:cubicBezTo>
                <a:cubicBezTo>
                  <a:pt x="6409946" y="30645"/>
                  <a:pt x="6438307" y="10375"/>
                  <a:pt x="6466340" y="21366"/>
                </a:cubicBezTo>
                <a:cubicBezTo>
                  <a:pt x="6488276" y="31229"/>
                  <a:pt x="6529854" y="28110"/>
                  <a:pt x="6553334" y="35307"/>
                </a:cubicBezTo>
                <a:cubicBezTo>
                  <a:pt x="6561737" y="48059"/>
                  <a:pt x="6609188" y="62087"/>
                  <a:pt x="6626068" y="58045"/>
                </a:cubicBezTo>
                <a:cubicBezTo>
                  <a:pt x="6660952" y="66570"/>
                  <a:pt x="6666277" y="84716"/>
                  <a:pt x="6692303" y="91487"/>
                </a:cubicBezTo>
                <a:lnTo>
                  <a:pt x="6733670" y="118130"/>
                </a:lnTo>
                <a:lnTo>
                  <a:pt x="6798016" y="112271"/>
                </a:lnTo>
                <a:lnTo>
                  <a:pt x="6801081" y="114963"/>
                </a:lnTo>
                <a:cubicBezTo>
                  <a:pt x="6806919" y="120140"/>
                  <a:pt x="6812832" y="125016"/>
                  <a:pt x="6819351" y="128825"/>
                </a:cubicBezTo>
                <a:cubicBezTo>
                  <a:pt x="6825742" y="109997"/>
                  <a:pt x="6840132" y="116541"/>
                  <a:pt x="6852732" y="123321"/>
                </a:cubicBezTo>
                <a:lnTo>
                  <a:pt x="6865247" y="128836"/>
                </a:lnTo>
                <a:lnTo>
                  <a:pt x="6905517" y="129265"/>
                </a:lnTo>
                <a:cubicBezTo>
                  <a:pt x="6934052" y="140042"/>
                  <a:pt x="6939773" y="141556"/>
                  <a:pt x="6950286" y="150104"/>
                </a:cubicBezTo>
                <a:lnTo>
                  <a:pt x="7003442" y="136136"/>
                </a:lnTo>
                <a:lnTo>
                  <a:pt x="7160047" y="166721"/>
                </a:lnTo>
                <a:cubicBezTo>
                  <a:pt x="7207281" y="179911"/>
                  <a:pt x="7280644" y="210197"/>
                  <a:pt x="7325604" y="215867"/>
                </a:cubicBezTo>
                <a:cubicBezTo>
                  <a:pt x="7460113" y="233904"/>
                  <a:pt x="7393081" y="242880"/>
                  <a:pt x="7540522" y="239374"/>
                </a:cubicBezTo>
                <a:cubicBezTo>
                  <a:pt x="7545714" y="234872"/>
                  <a:pt x="7605972" y="231727"/>
                  <a:pt x="7612071" y="229553"/>
                </a:cubicBezTo>
                <a:lnTo>
                  <a:pt x="7651995" y="244567"/>
                </a:lnTo>
                <a:lnTo>
                  <a:pt x="7725761" y="258638"/>
                </a:lnTo>
                <a:lnTo>
                  <a:pt x="7823038" y="287078"/>
                </a:lnTo>
                <a:cubicBezTo>
                  <a:pt x="7837080" y="286482"/>
                  <a:pt x="7851647" y="286498"/>
                  <a:pt x="7866405" y="287288"/>
                </a:cubicBezTo>
                <a:lnTo>
                  <a:pt x="7875021" y="288224"/>
                </a:lnTo>
                <a:cubicBezTo>
                  <a:pt x="7875062" y="288354"/>
                  <a:pt x="7875105" y="288483"/>
                  <a:pt x="7875146" y="288614"/>
                </a:cubicBezTo>
                <a:cubicBezTo>
                  <a:pt x="7880550" y="289202"/>
                  <a:pt x="7901153" y="290716"/>
                  <a:pt x="7907443" y="291752"/>
                </a:cubicBezTo>
                <a:lnTo>
                  <a:pt x="7912892" y="294833"/>
                </a:lnTo>
                <a:lnTo>
                  <a:pt x="7946345" y="319359"/>
                </a:lnTo>
                <a:cubicBezTo>
                  <a:pt x="7958657" y="312776"/>
                  <a:pt x="7996513" y="309749"/>
                  <a:pt x="8021238" y="315159"/>
                </a:cubicBezTo>
                <a:cubicBezTo>
                  <a:pt x="8045964" y="320570"/>
                  <a:pt x="8058169" y="340462"/>
                  <a:pt x="8094697" y="351819"/>
                </a:cubicBezTo>
                <a:cubicBezTo>
                  <a:pt x="8129587" y="361154"/>
                  <a:pt x="8116181" y="360544"/>
                  <a:pt x="8155208" y="371168"/>
                </a:cubicBezTo>
                <a:cubicBezTo>
                  <a:pt x="8196217" y="383300"/>
                  <a:pt x="8205468" y="391801"/>
                  <a:pt x="8248472" y="400489"/>
                </a:cubicBezTo>
                <a:cubicBezTo>
                  <a:pt x="8283932" y="419791"/>
                  <a:pt x="8278617" y="392031"/>
                  <a:pt x="8300068" y="405531"/>
                </a:cubicBezTo>
                <a:lnTo>
                  <a:pt x="8356293" y="403328"/>
                </a:lnTo>
                <a:cubicBezTo>
                  <a:pt x="8377247" y="404463"/>
                  <a:pt x="8438442" y="433194"/>
                  <a:pt x="8475838" y="435524"/>
                </a:cubicBezTo>
                <a:cubicBezTo>
                  <a:pt x="8510241" y="438037"/>
                  <a:pt x="8545511" y="449840"/>
                  <a:pt x="8575216" y="450198"/>
                </a:cubicBezTo>
                <a:lnTo>
                  <a:pt x="8588650" y="447070"/>
                </a:lnTo>
                <a:lnTo>
                  <a:pt x="8612184" y="439577"/>
                </a:lnTo>
                <a:lnTo>
                  <a:pt x="8630713" y="433015"/>
                </a:lnTo>
                <a:cubicBezTo>
                  <a:pt x="8635870" y="429519"/>
                  <a:pt x="8700685" y="428411"/>
                  <a:pt x="8704240" y="422865"/>
                </a:cubicBezTo>
                <a:cubicBezTo>
                  <a:pt x="8761777" y="429549"/>
                  <a:pt x="8768302" y="427178"/>
                  <a:pt x="8829513" y="429389"/>
                </a:cubicBezTo>
                <a:cubicBezTo>
                  <a:pt x="8922895" y="444672"/>
                  <a:pt x="8924579" y="401507"/>
                  <a:pt x="9083651" y="390744"/>
                </a:cubicBezTo>
                <a:cubicBezTo>
                  <a:pt x="9138403" y="388032"/>
                  <a:pt x="9315003" y="378647"/>
                  <a:pt x="9371402" y="371809"/>
                </a:cubicBezTo>
                <a:cubicBezTo>
                  <a:pt x="9358632" y="337502"/>
                  <a:pt x="9402842" y="379364"/>
                  <a:pt x="9429586" y="369213"/>
                </a:cubicBezTo>
                <a:cubicBezTo>
                  <a:pt x="9449312" y="370213"/>
                  <a:pt x="9473938" y="373270"/>
                  <a:pt x="9489757" y="377814"/>
                </a:cubicBezTo>
                <a:cubicBezTo>
                  <a:pt x="9498164" y="379256"/>
                  <a:pt x="9507139" y="379272"/>
                  <a:pt x="9516954" y="376991"/>
                </a:cubicBezTo>
                <a:cubicBezTo>
                  <a:pt x="9548430" y="354766"/>
                  <a:pt x="9591874" y="370315"/>
                  <a:pt x="9645588" y="363590"/>
                </a:cubicBezTo>
                <a:cubicBezTo>
                  <a:pt x="9660487" y="368814"/>
                  <a:pt x="9710817" y="350550"/>
                  <a:pt x="9722896" y="360983"/>
                </a:cubicBezTo>
                <a:cubicBezTo>
                  <a:pt x="9733918" y="362239"/>
                  <a:pt x="9745201" y="356679"/>
                  <a:pt x="9752803" y="368492"/>
                </a:cubicBezTo>
                <a:cubicBezTo>
                  <a:pt x="9793268" y="374490"/>
                  <a:pt x="9843313" y="380978"/>
                  <a:pt x="9890305" y="380736"/>
                </a:cubicBezTo>
                <a:cubicBezTo>
                  <a:pt x="9912701" y="380083"/>
                  <a:pt x="9926523" y="379037"/>
                  <a:pt x="9939767" y="377776"/>
                </a:cubicBezTo>
                <a:lnTo>
                  <a:pt x="9944355" y="377352"/>
                </a:lnTo>
                <a:lnTo>
                  <a:pt x="9953719" y="375642"/>
                </a:lnTo>
                <a:lnTo>
                  <a:pt x="9955809" y="376294"/>
                </a:lnTo>
                <a:lnTo>
                  <a:pt x="10032710" y="394940"/>
                </a:lnTo>
                <a:lnTo>
                  <a:pt x="10049925" y="404971"/>
                </a:lnTo>
                <a:lnTo>
                  <a:pt x="10112671" y="414549"/>
                </a:lnTo>
                <a:cubicBezTo>
                  <a:pt x="10169643" y="412125"/>
                  <a:pt x="10132220" y="425358"/>
                  <a:pt x="10170853" y="435168"/>
                </a:cubicBezTo>
                <a:cubicBezTo>
                  <a:pt x="10206088" y="442020"/>
                  <a:pt x="10240809" y="454081"/>
                  <a:pt x="10290184" y="448123"/>
                </a:cubicBezTo>
                <a:cubicBezTo>
                  <a:pt x="10301813" y="444919"/>
                  <a:pt x="10315233" y="449499"/>
                  <a:pt x="10320158" y="458352"/>
                </a:cubicBezTo>
                <a:cubicBezTo>
                  <a:pt x="10321006" y="459876"/>
                  <a:pt x="10321565" y="461470"/>
                  <a:pt x="10321815" y="463087"/>
                </a:cubicBezTo>
                <a:cubicBezTo>
                  <a:pt x="10354058" y="457158"/>
                  <a:pt x="10355176" y="470634"/>
                  <a:pt x="10373742" y="464538"/>
                </a:cubicBezTo>
                <a:cubicBezTo>
                  <a:pt x="10403060" y="475292"/>
                  <a:pt x="10411841" y="497597"/>
                  <a:pt x="10428532" y="492504"/>
                </a:cubicBezTo>
                <a:cubicBezTo>
                  <a:pt x="10440561" y="500742"/>
                  <a:pt x="10446267" y="521930"/>
                  <a:pt x="10466490" y="517759"/>
                </a:cubicBezTo>
                <a:cubicBezTo>
                  <a:pt x="10464622" y="519986"/>
                  <a:pt x="10465013" y="521261"/>
                  <a:pt x="10466675" y="522076"/>
                </a:cubicBezTo>
                <a:lnTo>
                  <a:pt x="10470309" y="522792"/>
                </a:lnTo>
                <a:lnTo>
                  <a:pt x="10474138" y="519761"/>
                </a:lnTo>
                <a:cubicBezTo>
                  <a:pt x="10488888" y="509612"/>
                  <a:pt x="10484914" y="524734"/>
                  <a:pt x="10501100" y="528263"/>
                </a:cubicBezTo>
                <a:cubicBezTo>
                  <a:pt x="10508412" y="530705"/>
                  <a:pt x="10505426" y="533743"/>
                  <a:pt x="10502395" y="536393"/>
                </a:cubicBezTo>
                <a:lnTo>
                  <a:pt x="10689496" y="560233"/>
                </a:lnTo>
                <a:cubicBezTo>
                  <a:pt x="10721441" y="573640"/>
                  <a:pt x="10757547" y="582937"/>
                  <a:pt x="10788736" y="613188"/>
                </a:cubicBezTo>
                <a:cubicBezTo>
                  <a:pt x="10794510" y="621641"/>
                  <a:pt x="10807098" y="616073"/>
                  <a:pt x="10819747" y="621351"/>
                </a:cubicBezTo>
                <a:cubicBezTo>
                  <a:pt x="10832398" y="626630"/>
                  <a:pt x="10846356" y="639592"/>
                  <a:pt x="10864632" y="644858"/>
                </a:cubicBezTo>
                <a:cubicBezTo>
                  <a:pt x="10895617" y="652290"/>
                  <a:pt x="10921550" y="640451"/>
                  <a:pt x="10929407" y="652945"/>
                </a:cubicBezTo>
                <a:cubicBezTo>
                  <a:pt x="10945460" y="653176"/>
                  <a:pt x="10968148" y="640553"/>
                  <a:pt x="10979412" y="654217"/>
                </a:cubicBezTo>
                <a:cubicBezTo>
                  <a:pt x="10981679" y="643737"/>
                  <a:pt x="10997287" y="663414"/>
                  <a:pt x="11006959" y="657017"/>
                </a:cubicBezTo>
                <a:cubicBezTo>
                  <a:pt x="11023230" y="659396"/>
                  <a:pt x="11051890" y="662462"/>
                  <a:pt x="11077038" y="668487"/>
                </a:cubicBezTo>
                <a:cubicBezTo>
                  <a:pt x="11097000" y="690299"/>
                  <a:pt x="11141286" y="676399"/>
                  <a:pt x="11157850" y="693164"/>
                </a:cubicBezTo>
                <a:cubicBezTo>
                  <a:pt x="11163800" y="695757"/>
                  <a:pt x="11169599" y="696942"/>
                  <a:pt x="11175276" y="697243"/>
                </a:cubicBezTo>
                <a:lnTo>
                  <a:pt x="11191131" y="696085"/>
                </a:lnTo>
                <a:lnTo>
                  <a:pt x="11195573" y="691751"/>
                </a:lnTo>
                <a:lnTo>
                  <a:pt x="11205299" y="693247"/>
                </a:lnTo>
                <a:lnTo>
                  <a:pt x="11223770" y="690335"/>
                </a:lnTo>
                <a:cubicBezTo>
                  <a:pt x="11237778" y="693777"/>
                  <a:pt x="11256852" y="701947"/>
                  <a:pt x="11292119" y="713311"/>
                </a:cubicBezTo>
                <a:cubicBezTo>
                  <a:pt x="11334878" y="733451"/>
                  <a:pt x="11401662" y="729175"/>
                  <a:pt x="11435379" y="758519"/>
                </a:cubicBezTo>
                <a:lnTo>
                  <a:pt x="11604406" y="810476"/>
                </a:lnTo>
                <a:lnTo>
                  <a:pt x="11652155" y="825109"/>
                </a:lnTo>
                <a:lnTo>
                  <a:pt x="11654192" y="827301"/>
                </a:lnTo>
                <a:cubicBezTo>
                  <a:pt x="11661650" y="834729"/>
                  <a:pt x="11669215" y="841480"/>
                  <a:pt x="11676599" y="846628"/>
                </a:cubicBezTo>
                <a:cubicBezTo>
                  <a:pt x="11688258" y="861760"/>
                  <a:pt x="11752266" y="896888"/>
                  <a:pt x="11775168" y="890664"/>
                </a:cubicBezTo>
                <a:cubicBezTo>
                  <a:pt x="11790977" y="883819"/>
                  <a:pt x="11808364" y="879901"/>
                  <a:pt x="11826341" y="877558"/>
                </a:cubicBezTo>
                <a:lnTo>
                  <a:pt x="11879068" y="874038"/>
                </a:lnTo>
                <a:lnTo>
                  <a:pt x="11889563" y="878619"/>
                </a:lnTo>
                <a:lnTo>
                  <a:pt x="12016613" y="886111"/>
                </a:lnTo>
                <a:lnTo>
                  <a:pt x="12108292" y="868500"/>
                </a:lnTo>
                <a:cubicBezTo>
                  <a:pt x="12129725" y="867311"/>
                  <a:pt x="12157891" y="874537"/>
                  <a:pt x="12182910" y="882003"/>
                </a:cubicBezTo>
                <a:lnTo>
                  <a:pt x="12192000" y="884778"/>
                </a:lnTo>
                <a:lnTo>
                  <a:pt x="12192000" y="1610315"/>
                </a:lnTo>
                <a:lnTo>
                  <a:pt x="12191998" y="1610315"/>
                </a:lnTo>
                <a:lnTo>
                  <a:pt x="12191998" y="1924333"/>
                </a:lnTo>
                <a:lnTo>
                  <a:pt x="0" y="1924333"/>
                </a:lnTo>
                <a:lnTo>
                  <a:pt x="0" y="505159"/>
                </a:lnTo>
                <a:lnTo>
                  <a:pt x="5722" y="508889"/>
                </a:lnTo>
                <a:cubicBezTo>
                  <a:pt x="21614" y="518548"/>
                  <a:pt x="33814" y="524781"/>
                  <a:pt x="38476" y="524137"/>
                </a:cubicBezTo>
                <a:cubicBezTo>
                  <a:pt x="99229" y="544180"/>
                  <a:pt x="142010" y="538457"/>
                  <a:pt x="192883" y="545272"/>
                </a:cubicBezTo>
                <a:cubicBezTo>
                  <a:pt x="277629" y="525210"/>
                  <a:pt x="293434" y="558443"/>
                  <a:pt x="343710" y="565029"/>
                </a:cubicBezTo>
                <a:cubicBezTo>
                  <a:pt x="383094" y="555729"/>
                  <a:pt x="425462" y="556271"/>
                  <a:pt x="471066" y="549837"/>
                </a:cubicBezTo>
                <a:cubicBezTo>
                  <a:pt x="513583" y="544428"/>
                  <a:pt x="569194" y="531004"/>
                  <a:pt x="617333" y="526428"/>
                </a:cubicBezTo>
                <a:cubicBezTo>
                  <a:pt x="660031" y="520760"/>
                  <a:pt x="696675" y="523882"/>
                  <a:pt x="725203" y="523793"/>
                </a:cubicBezTo>
                <a:cubicBezTo>
                  <a:pt x="736650" y="521695"/>
                  <a:pt x="780513" y="502146"/>
                  <a:pt x="788494" y="505799"/>
                </a:cubicBezTo>
                <a:lnTo>
                  <a:pt x="885977" y="526585"/>
                </a:lnTo>
                <a:cubicBezTo>
                  <a:pt x="906140" y="522837"/>
                  <a:pt x="917203" y="532232"/>
                  <a:pt x="932142" y="528005"/>
                </a:cubicBezTo>
                <a:cubicBezTo>
                  <a:pt x="963701" y="524128"/>
                  <a:pt x="1061555" y="499582"/>
                  <a:pt x="1090404" y="498299"/>
                </a:cubicBezTo>
                <a:cubicBezTo>
                  <a:pt x="1132840" y="494057"/>
                  <a:pt x="1148476" y="496041"/>
                  <a:pt x="1188628" y="483151"/>
                </a:cubicBezTo>
                <a:cubicBezTo>
                  <a:pt x="1230397" y="468408"/>
                  <a:pt x="1278711" y="457638"/>
                  <a:pt x="1316247" y="425979"/>
                </a:cubicBezTo>
                <a:cubicBezTo>
                  <a:pt x="1322662" y="417251"/>
                  <a:pt x="1339433" y="418553"/>
                  <a:pt x="1357712" y="416549"/>
                </a:cubicBezTo>
                <a:cubicBezTo>
                  <a:pt x="1375991" y="414544"/>
                  <a:pt x="1423507" y="412949"/>
                  <a:pt x="1425921" y="413953"/>
                </a:cubicBezTo>
                <a:cubicBezTo>
                  <a:pt x="1450272" y="407937"/>
                  <a:pt x="1458223" y="388156"/>
                  <a:pt x="1503817" y="380457"/>
                </a:cubicBezTo>
                <a:cubicBezTo>
                  <a:pt x="1541095" y="377398"/>
                  <a:pt x="1605565" y="376357"/>
                  <a:pt x="1639196" y="372785"/>
                </a:cubicBezTo>
                <a:cubicBezTo>
                  <a:pt x="1653280" y="376736"/>
                  <a:pt x="1695289" y="365766"/>
                  <a:pt x="1705606" y="359023"/>
                </a:cubicBezTo>
                <a:cubicBezTo>
                  <a:pt x="1729169" y="336295"/>
                  <a:pt x="1793207" y="348537"/>
                  <a:pt x="1813011" y="331023"/>
                </a:cubicBezTo>
                <a:cubicBezTo>
                  <a:pt x="1820772" y="328179"/>
                  <a:pt x="1823566" y="341833"/>
                  <a:pt x="1831380" y="341307"/>
                </a:cubicBezTo>
                <a:lnTo>
                  <a:pt x="1858612" y="326777"/>
                </a:lnTo>
                <a:lnTo>
                  <a:pt x="1880661" y="335987"/>
                </a:lnTo>
                <a:lnTo>
                  <a:pt x="1941495" y="310792"/>
                </a:lnTo>
                <a:cubicBezTo>
                  <a:pt x="1978970" y="307223"/>
                  <a:pt x="1947391" y="291714"/>
                  <a:pt x="1995402" y="305480"/>
                </a:cubicBezTo>
                <a:cubicBezTo>
                  <a:pt x="2042464" y="298034"/>
                  <a:pt x="2153424" y="281146"/>
                  <a:pt x="2223864" y="266118"/>
                </a:cubicBezTo>
                <a:cubicBezTo>
                  <a:pt x="2261296" y="256300"/>
                  <a:pt x="2360518" y="238323"/>
                  <a:pt x="2418043" y="215314"/>
                </a:cubicBezTo>
                <a:cubicBezTo>
                  <a:pt x="2472088" y="206823"/>
                  <a:pt x="2499422" y="162612"/>
                  <a:pt x="2558461" y="168193"/>
                </a:cubicBezTo>
                <a:cubicBezTo>
                  <a:pt x="2559660" y="164506"/>
                  <a:pt x="2592244" y="161337"/>
                  <a:pt x="2595535" y="158548"/>
                </a:cubicBezTo>
                <a:lnTo>
                  <a:pt x="2626942" y="130400"/>
                </a:lnTo>
                <a:lnTo>
                  <a:pt x="2632225" y="130446"/>
                </a:lnTo>
                <a:lnTo>
                  <a:pt x="2696856" y="128498"/>
                </a:lnTo>
                <a:lnTo>
                  <a:pt x="2759767" y="127784"/>
                </a:lnTo>
                <a:cubicBezTo>
                  <a:pt x="2770024" y="123546"/>
                  <a:pt x="2781047" y="119463"/>
                  <a:pt x="2792685" y="115710"/>
                </a:cubicBezTo>
                <a:lnTo>
                  <a:pt x="2799767" y="113754"/>
                </a:lnTo>
                <a:lnTo>
                  <a:pt x="2829799" y="120042"/>
                </a:lnTo>
                <a:lnTo>
                  <a:pt x="2890704" y="121493"/>
                </a:lnTo>
                <a:cubicBezTo>
                  <a:pt x="2935390" y="121035"/>
                  <a:pt x="2990780" y="113193"/>
                  <a:pt x="3042646" y="112273"/>
                </a:cubicBezTo>
                <a:cubicBezTo>
                  <a:pt x="3077119" y="111474"/>
                  <a:pt x="3124089" y="100414"/>
                  <a:pt x="3146630" y="100898"/>
                </a:cubicBezTo>
                <a:cubicBezTo>
                  <a:pt x="3169381" y="117699"/>
                  <a:pt x="3224695" y="125864"/>
                  <a:pt x="3233163" y="120200"/>
                </a:cubicBezTo>
                <a:lnTo>
                  <a:pt x="3372699" y="129394"/>
                </a:lnTo>
                <a:cubicBezTo>
                  <a:pt x="3389020" y="126586"/>
                  <a:pt x="3397563" y="116804"/>
                  <a:pt x="3394352" y="131671"/>
                </a:cubicBezTo>
                <a:cubicBezTo>
                  <a:pt x="3406102" y="131485"/>
                  <a:pt x="3429770" y="120938"/>
                  <a:pt x="3448218" y="118229"/>
                </a:cubicBezTo>
                <a:lnTo>
                  <a:pt x="3505047" y="115412"/>
                </a:lnTo>
                <a:lnTo>
                  <a:pt x="3521767" y="111071"/>
                </a:lnTo>
                <a:cubicBezTo>
                  <a:pt x="3526335" y="108877"/>
                  <a:pt x="3582156" y="117732"/>
                  <a:pt x="3585137" y="114371"/>
                </a:cubicBezTo>
                <a:cubicBezTo>
                  <a:pt x="3638265" y="102098"/>
                  <a:pt x="3633789" y="98565"/>
                  <a:pt x="3690293" y="98301"/>
                </a:cubicBezTo>
                <a:cubicBezTo>
                  <a:pt x="3782197" y="112746"/>
                  <a:pt x="3826738" y="92943"/>
                  <a:pt x="3867818" y="88985"/>
                </a:cubicBezTo>
                <a:cubicBezTo>
                  <a:pt x="3943777" y="81477"/>
                  <a:pt x="3990501" y="75194"/>
                  <a:pt x="4091337" y="70813"/>
                </a:cubicBezTo>
                <a:cubicBezTo>
                  <a:pt x="4154422" y="62932"/>
                  <a:pt x="4217060" y="45734"/>
                  <a:pt x="4246332" y="41697"/>
                </a:cubicBezTo>
                <a:cubicBezTo>
                  <a:pt x="4253308" y="42804"/>
                  <a:pt x="4260125" y="44606"/>
                  <a:pt x="4266975" y="46592"/>
                </a:cubicBezTo>
                <a:lnTo>
                  <a:pt x="4270566" y="47620"/>
                </a:lnTo>
                <a:lnTo>
                  <a:pt x="4288964" y="52766"/>
                </a:lnTo>
                <a:lnTo>
                  <a:pt x="4365137" y="51783"/>
                </a:lnTo>
                <a:lnTo>
                  <a:pt x="4430546" y="44555"/>
                </a:lnTo>
                <a:lnTo>
                  <a:pt x="4444136" y="39567"/>
                </a:lnTo>
                <a:lnTo>
                  <a:pt x="4534039" y="31604"/>
                </a:lnTo>
                <a:lnTo>
                  <a:pt x="4560448" y="25231"/>
                </a:lnTo>
                <a:lnTo>
                  <a:pt x="4568006" y="25970"/>
                </a:lnTo>
                <a:cubicBezTo>
                  <a:pt x="4580278" y="23866"/>
                  <a:pt x="4594878" y="14904"/>
                  <a:pt x="4595497" y="22958"/>
                </a:cubicBezTo>
                <a:lnTo>
                  <a:pt x="4608623" y="18108"/>
                </a:lnTo>
                <a:lnTo>
                  <a:pt x="4623942" y="22251"/>
                </a:lnTo>
                <a:cubicBezTo>
                  <a:pt x="4633227" y="23117"/>
                  <a:pt x="4655429" y="23973"/>
                  <a:pt x="4664336" y="23306"/>
                </a:cubicBezTo>
                <a:lnTo>
                  <a:pt x="4677385" y="18246"/>
                </a:lnTo>
                <a:lnTo>
                  <a:pt x="4698143" y="18036"/>
                </a:lnTo>
                <a:cubicBezTo>
                  <a:pt x="4710347" y="18931"/>
                  <a:pt x="4736189" y="22441"/>
                  <a:pt x="4750609" y="23611"/>
                </a:cubicBezTo>
                <a:cubicBezTo>
                  <a:pt x="4764270" y="27424"/>
                  <a:pt x="4774858" y="29782"/>
                  <a:pt x="4784658" y="25057"/>
                </a:cubicBezTo>
                <a:cubicBezTo>
                  <a:pt x="4804708" y="29613"/>
                  <a:pt x="4822811" y="48263"/>
                  <a:pt x="4847558" y="38726"/>
                </a:cubicBezTo>
                <a:cubicBezTo>
                  <a:pt x="4868304" y="42993"/>
                  <a:pt x="4867190" y="47939"/>
                  <a:pt x="4909134" y="50659"/>
                </a:cubicBezTo>
                <a:cubicBezTo>
                  <a:pt x="4945026" y="52455"/>
                  <a:pt x="5063406" y="54096"/>
                  <a:pt x="5099219" y="55050"/>
                </a:cubicBezTo>
                <a:cubicBezTo>
                  <a:pt x="5145195" y="57873"/>
                  <a:pt x="5163254" y="65473"/>
                  <a:pt x="5184992" y="67596"/>
                </a:cubicBezTo>
                <a:cubicBezTo>
                  <a:pt x="5206728" y="69720"/>
                  <a:pt x="5195578" y="65687"/>
                  <a:pt x="5229637" y="67789"/>
                </a:cubicBezTo>
                <a:cubicBezTo>
                  <a:pt x="5263695" y="69892"/>
                  <a:pt x="5345217" y="78854"/>
                  <a:pt x="5389346" y="80211"/>
                </a:cubicBezTo>
                <a:cubicBezTo>
                  <a:pt x="5425889" y="83191"/>
                  <a:pt x="5461943" y="84751"/>
                  <a:pt x="5494414" y="75926"/>
                </a:cubicBezTo>
                <a:lnTo>
                  <a:pt x="5528443" y="77206"/>
                </a:lnTo>
                <a:cubicBezTo>
                  <a:pt x="5582723" y="71370"/>
                  <a:pt x="5638917" y="68385"/>
                  <a:pt x="5684939" y="50269"/>
                </a:cubicBezTo>
                <a:cubicBezTo>
                  <a:pt x="5724389" y="45804"/>
                  <a:pt x="5737860" y="52916"/>
                  <a:pt x="5765146" y="50414"/>
                </a:cubicBezTo>
                <a:cubicBezTo>
                  <a:pt x="5792695" y="43060"/>
                  <a:pt x="5827352" y="38097"/>
                  <a:pt x="5848655" y="35257"/>
                </a:cubicBezTo>
                <a:lnTo>
                  <a:pt x="5930656" y="30131"/>
                </a:lnTo>
                <a:lnTo>
                  <a:pt x="6124150" y="31679"/>
                </a:lnTo>
                <a:cubicBezTo>
                  <a:pt x="6138131" y="22216"/>
                  <a:pt x="6167730" y="4075"/>
                  <a:pt x="6189199" y="588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 noProof="0" dirty="0"/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242044" y="5463147"/>
            <a:ext cx="9707911" cy="73988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algn="ctr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CL" sz="3600" noProof="0" dirty="0">
                <a:latin typeface="+mj-lt"/>
                <a:ea typeface="+mj-ea"/>
                <a:cs typeface="+mj-cs"/>
              </a:rPr>
              <a:t>¡Muchas Gracias por su Atención! </a:t>
            </a:r>
          </a:p>
        </p:txBody>
      </p:sp>
      <p:pic>
        <p:nvPicPr>
          <p:cNvPr id="2" name="Picture 4" descr="140 ideas de Grados en 2025 | imagenes de graduados, imágenes de  graduación, ideas de fiesta de graduación">
            <a:extLst>
              <a:ext uri="{FF2B5EF4-FFF2-40B4-BE49-F238E27FC236}">
                <a16:creationId xmlns:a16="http://schemas.microsoft.com/office/drawing/2014/main" id="{2C920B99-9A9B-C26D-9B64-135CA19D22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2081279" y="1024912"/>
            <a:ext cx="3291389" cy="32173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343718" y="2066858"/>
            <a:ext cx="4533764" cy="11334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988</TotalTime>
  <Words>1081</Words>
  <Application>Microsoft Office PowerPoint</Application>
  <PresentationFormat>Panorámica</PresentationFormat>
  <Paragraphs>345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Wingdings</vt:lpstr>
      <vt:lpstr>Tema de Office</vt:lpstr>
      <vt:lpstr>Proyecto WellQ App Exámenes Medicos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pavezherrada@gmail.com</dc:creator>
  <cp:lastModifiedBy>pavezherrada@gmail.com</cp:lastModifiedBy>
  <cp:revision>38</cp:revision>
  <dcterms:created xsi:type="dcterms:W3CDTF">2025-03-31T00:42:12Z</dcterms:created>
  <dcterms:modified xsi:type="dcterms:W3CDTF">2026-08-29T01:45:59Z</dcterms:modified>
</cp:coreProperties>
</file>